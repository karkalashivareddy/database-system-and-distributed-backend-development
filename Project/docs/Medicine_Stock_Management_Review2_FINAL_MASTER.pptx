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presenting our Project Review-2 for the Medicine Stock Management and Analytics Portal for Pharmaceuticals, developed under the guidance of Dr. R. Sateesh Kumar at KL University. Our team consists of Karkala Shiva Reddy and Paripalli Navadeep.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portal acts as a centralized platform for pharmaceutical inventory. It maintains structured records for medicines, suppliers, batches and transactions, and builds on MongoDB with Mongoose on the data side and React with a RESTful backend on the application side. The idea is simple: centralized data leads to reliable inventory and, in turn, actionable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Conventional inventory handling faces four recurring difficulties: fragmented records, inconsistent data across medicines and batches, the risk of stockouts when low stock is not caught early, and the risk of expired stock going unnoticed. Together these point to one core problem — a lack of centralized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the two approaches makes the value clear. The existing approach relies on manual, disconnected records with limited batch visibility and delayed detection of low stock or expiry risk. The proposed portal replaces this with a centralized MongoDB-backed data model, automated alerts, role-based access and a visual analytics dashboard, all driven through RESTful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system is organized into six core modules: medicine management, supplier management, batch-wise stock tracking, purchase and sales recording, smart inventory alerts for low stock and near expiry, and an analytics dashboard for visualizing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follows a clean three-layer design. The presentation layer is built with React, HTML5, CSS3 and modern JavaScript, while the application layer uses Node.js and Express to expose RESTful APIs with business logic, validation and authorization. JWT is used for token-based authentication, while bcrypt is used for secure password hashing. The data layer uses MongoDB with Mongoose to persist medicines, suppliers, batches and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inventory action moves through a consistent data flow: a user action on the React interface calls a RESTful API, which Express processes through business logic, validation and authorization, before Mongoose reads or writes the corresponding MongoDB documents. Core entities include Medicine, Supplier, Batch and the Purchase, Sale and Sale Item transaction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stack is built entirely on tools we have hands-on knowledge of: React with HTML5, CSS3 and modern JavaScript on the frontend; Node.js and Express on the backend; RESTful APIs secured with JWT and bcrypt; MongoDB with Mongoose for data persistence; Recharts for analytics visuals; and Postman, MongoDB Compass, VS Code, npm, Git and GitHub for development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portal is expected to deliver four key benefits: better visibility through centralized data, stronger inventory control through batch-wise tracking, faster action through low-stock and expiry alerts, and more informed, data-driven decisions through the analytics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We are happy to take any questions on the problem statement, the proposed architecture, or the technology choices behind the Medicine Stock Management and Analytics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2B"/>
        </a:solidFill>
      </p:bgPr>
    </p:bg>
    <p:spTree>
      <p:nvGrpSpPr>
        <p:cNvPr id="1" name=""/>
        <p:cNvGrpSpPr/>
        <p:nvPr/>
      </p:nvGrpSpPr>
      <p:grpSpPr>
        <a:xfrm>
          <a:off x="0" y="0"/>
          <a:ext cx="0" cy="0"/>
          <a:chOff x="0" y="0"/>
          <a:chExt cx="0" cy="0"/>
        </a:xfrm>
      </p:grpSpPr>
      <p:sp>
        <p:nvSpPr>
          <p:cNvPr id="2" name="Shape 0"/>
          <p:cNvSpPr/>
          <p:nvPr/>
        </p:nvSpPr>
        <p:spPr>
          <a:xfrm rot="-1080000">
            <a:off x="9418320" y="457200"/>
            <a:ext cx="2377440" cy="685800"/>
          </a:xfrm>
          <a:prstGeom prst="roundRect">
            <a:avLst>
              <a:gd name="adj" fmla="val 49333"/>
            </a:avLst>
          </a:prstGeom>
          <a:solidFill>
            <a:srgbClr val="0A2540">
              <a:alpha val="60000"/>
            </a:srgbClr>
          </a:solidFill>
          <a:ln/>
        </p:spPr>
      </p:sp>
      <p:sp>
        <p:nvSpPr>
          <p:cNvPr id="3" name="Shape 1"/>
          <p:cNvSpPr/>
          <p:nvPr/>
        </p:nvSpPr>
        <p:spPr>
          <a:xfrm rot="-1080000">
            <a:off x="9464040" y="594360"/>
            <a:ext cx="2377440" cy="685800"/>
          </a:xfrm>
          <a:prstGeom prst="roundRect">
            <a:avLst>
              <a:gd name="adj" fmla="val 49333"/>
            </a:avLst>
          </a:prstGeom>
          <a:solidFill>
            <a:srgbClr val="0A2540">
              <a:alpha val="68000"/>
            </a:srgbClr>
          </a:solidFill>
          <a:ln/>
        </p:spPr>
      </p:sp>
      <p:sp>
        <p:nvSpPr>
          <p:cNvPr id="4" name="Shape 2"/>
          <p:cNvSpPr/>
          <p:nvPr/>
        </p:nvSpPr>
        <p:spPr>
          <a:xfrm rot="-1080000">
            <a:off x="9509760" y="731520"/>
            <a:ext cx="2377440" cy="685800"/>
          </a:xfrm>
          <a:prstGeom prst="roundRect">
            <a:avLst>
              <a:gd name="adj" fmla="val 49333"/>
            </a:avLst>
          </a:prstGeom>
          <a:solidFill>
            <a:srgbClr val="0A2540">
              <a:alpha val="76000"/>
            </a:srgbClr>
          </a:solidFill>
          <a:ln/>
        </p:spPr>
      </p:sp>
      <p:sp>
        <p:nvSpPr>
          <p:cNvPr id="5" name="Shape 3"/>
          <p:cNvSpPr/>
          <p:nvPr/>
        </p:nvSpPr>
        <p:spPr>
          <a:xfrm>
            <a:off x="822960" y="6035040"/>
            <a:ext cx="82296" cy="82296"/>
          </a:xfrm>
          <a:prstGeom prst="ellipse">
            <a:avLst/>
          </a:prstGeom>
          <a:solidFill>
            <a:srgbClr val="00B8A9">
              <a:alpha val="70000"/>
            </a:srgbClr>
          </a:solidFill>
          <a:ln/>
        </p:spPr>
      </p:sp>
      <p:sp>
        <p:nvSpPr>
          <p:cNvPr id="6" name="Shape 4"/>
          <p:cNvSpPr/>
          <p:nvPr/>
        </p:nvSpPr>
        <p:spPr>
          <a:xfrm>
            <a:off x="1463040" y="6309360"/>
            <a:ext cx="82296" cy="82296"/>
          </a:xfrm>
          <a:prstGeom prst="ellipse">
            <a:avLst/>
          </a:prstGeom>
          <a:solidFill>
            <a:srgbClr val="00B8A9">
              <a:alpha val="70000"/>
            </a:srgbClr>
          </a:solidFill>
          <a:ln/>
        </p:spPr>
      </p:sp>
      <p:sp>
        <p:nvSpPr>
          <p:cNvPr id="7" name="Shape 5"/>
          <p:cNvSpPr/>
          <p:nvPr/>
        </p:nvSpPr>
        <p:spPr>
          <a:xfrm>
            <a:off x="548640" y="6492240"/>
            <a:ext cx="82296" cy="82296"/>
          </a:xfrm>
          <a:prstGeom prst="ellipse">
            <a:avLst/>
          </a:prstGeom>
          <a:solidFill>
            <a:srgbClr val="00B8A9">
              <a:alpha val="70000"/>
            </a:srgbClr>
          </a:solidFill>
          <a:ln/>
        </p:spPr>
      </p:sp>
      <p:sp>
        <p:nvSpPr>
          <p:cNvPr id="8" name="Shape 6"/>
          <p:cNvSpPr/>
          <p:nvPr/>
        </p:nvSpPr>
        <p:spPr>
          <a:xfrm>
            <a:off x="2103120" y="5943600"/>
            <a:ext cx="82296" cy="82296"/>
          </a:xfrm>
          <a:prstGeom prst="ellipse">
            <a:avLst/>
          </a:prstGeom>
          <a:solidFill>
            <a:srgbClr val="00B8A9">
              <a:alpha val="70000"/>
            </a:srgbClr>
          </a:solidFill>
          <a:ln/>
        </p:spPr>
      </p:sp>
      <p:sp>
        <p:nvSpPr>
          <p:cNvPr id="9" name="Shape 7"/>
          <p:cNvSpPr/>
          <p:nvPr/>
        </p:nvSpPr>
        <p:spPr>
          <a:xfrm>
            <a:off x="1188720" y="5760720"/>
            <a:ext cx="82296" cy="82296"/>
          </a:xfrm>
          <a:prstGeom prst="ellipse">
            <a:avLst/>
          </a:prstGeom>
          <a:solidFill>
            <a:srgbClr val="00B8A9">
              <a:alpha val="70000"/>
            </a:srgbClr>
          </a:solidFill>
          <a:ln/>
        </p:spPr>
      </p:sp>
      <p:sp>
        <p:nvSpPr>
          <p:cNvPr id="10" name="Shape 8"/>
          <p:cNvSpPr/>
          <p:nvPr/>
        </p:nvSpPr>
        <p:spPr>
          <a:xfrm>
            <a:off x="548640" y="6172200"/>
            <a:ext cx="1005840" cy="0"/>
          </a:xfrm>
          <a:prstGeom prst="line">
            <a:avLst/>
          </a:prstGeom>
          <a:noFill/>
          <a:ln w="9525">
            <a:solidFill>
              <a:srgbClr val="00B8A9">
                <a:alpha val="60000"/>
              </a:srgbClr>
            </a:solidFill>
            <a:prstDash val="solid"/>
          </a:ln>
        </p:spPr>
      </p:sp>
      <p:sp>
        <p:nvSpPr>
          <p:cNvPr id="11" name="Shape 9"/>
          <p:cNvSpPr/>
          <p:nvPr/>
        </p:nvSpPr>
        <p:spPr>
          <a:xfrm>
            <a:off x="1051560" y="5943600"/>
            <a:ext cx="548640" cy="457200"/>
          </a:xfrm>
          <a:prstGeom prst="line">
            <a:avLst/>
          </a:prstGeom>
          <a:noFill/>
          <a:ln w="9525">
            <a:solidFill>
              <a:srgbClr val="00B8A9">
                <a:alpha val="60000"/>
              </a:srgbClr>
            </a:solidFill>
            <a:prstDash val="solid"/>
          </a:ln>
        </p:spPr>
      </p:sp>
      <p:sp>
        <p:nvSpPr>
          <p:cNvPr id="12" name="Text 10"/>
          <p:cNvSpPr/>
          <p:nvPr/>
        </p:nvSpPr>
        <p:spPr>
          <a:xfrm>
            <a:off x="640080" y="502920"/>
            <a:ext cx="5486400" cy="365760"/>
          </a:xfrm>
          <a:prstGeom prst="rect">
            <a:avLst/>
          </a:prstGeom>
          <a:noFill/>
          <a:ln/>
        </p:spPr>
        <p:txBody>
          <a:bodyPr wrap="square" rtlCol="0" anchor="ctr"/>
          <a:lstStyle/>
          <a:p>
            <a:pPr indent="0" marL="0">
              <a:buNone/>
            </a:pPr>
            <a:r>
              <a:rPr lang="en-US" sz="1400" b="1" spc="200" kern="0" dirty="0">
                <a:solidFill>
                  <a:srgbClr val="00D4FF"/>
                </a:solidFill>
                <a:latin typeface="Calibri" pitchFamily="34" charset="0"/>
                <a:ea typeface="Calibri" pitchFamily="34" charset="-122"/>
                <a:cs typeface="Calibri" pitchFamily="34" charset="-120"/>
              </a:rPr>
              <a:t>KL UNIVERSITY</a:t>
            </a:r>
            <a:endParaRPr lang="en-US" sz="1400" dirty="0"/>
          </a:p>
        </p:txBody>
      </p:sp>
      <p:sp>
        <p:nvSpPr>
          <p:cNvPr id="13" name="Text 11"/>
          <p:cNvSpPr/>
          <p:nvPr/>
        </p:nvSpPr>
        <p:spPr>
          <a:xfrm>
            <a:off x="640080" y="868680"/>
            <a:ext cx="5486400" cy="365760"/>
          </a:xfrm>
          <a:prstGeom prst="rect">
            <a:avLst/>
          </a:prstGeom>
          <a:noFill/>
          <a:ln/>
        </p:spPr>
        <p:txBody>
          <a:bodyPr wrap="square" rtlCol="0" anchor="ctr"/>
          <a:lstStyle/>
          <a:p>
            <a:pPr indent="0" marL="0">
              <a:buNone/>
            </a:pPr>
            <a:r>
              <a:rPr lang="en-US" sz="1400" dirty="0">
                <a:solidFill>
                  <a:srgbClr val="B8C7D9"/>
                </a:solidFill>
                <a:latin typeface="Calibri" pitchFamily="34" charset="0"/>
                <a:ea typeface="Calibri" pitchFamily="34" charset="-122"/>
                <a:cs typeface="Calibri" pitchFamily="34" charset="-120"/>
              </a:rPr>
              <a:t>Project Review – 2</a:t>
            </a:r>
            <a:endParaRPr lang="en-US" sz="1400" dirty="0"/>
          </a:p>
        </p:txBody>
      </p:sp>
      <p:sp>
        <p:nvSpPr>
          <p:cNvPr id="14" name="Text 12"/>
          <p:cNvSpPr/>
          <p:nvPr/>
        </p:nvSpPr>
        <p:spPr>
          <a:xfrm>
            <a:off x="640080" y="2286000"/>
            <a:ext cx="10881360" cy="1737360"/>
          </a:xfrm>
          <a:prstGeom prst="rect">
            <a:avLst/>
          </a:prstGeom>
          <a:noFill/>
          <a:ln/>
        </p:spPr>
        <p:txBody>
          <a:bodyPr wrap="square"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Medicine Stock Management</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&amp; Analytics Portal for Pharmaceuticals</a:t>
            </a:r>
            <a:endParaRPr lang="en-US" sz="4000" dirty="0"/>
          </a:p>
        </p:txBody>
      </p:sp>
      <p:sp>
        <p:nvSpPr>
          <p:cNvPr id="15" name="Text 13"/>
          <p:cNvSpPr/>
          <p:nvPr/>
        </p:nvSpPr>
        <p:spPr>
          <a:xfrm>
            <a:off x="640080" y="3977640"/>
            <a:ext cx="8686800" cy="548640"/>
          </a:xfrm>
          <a:prstGeom prst="rect">
            <a:avLst/>
          </a:prstGeom>
          <a:noFill/>
          <a:ln/>
        </p:spPr>
        <p:txBody>
          <a:bodyPr wrap="square" rtlCol="0" anchor="ctr"/>
          <a:lstStyle/>
          <a:p>
            <a:pPr indent="0" marL="0">
              <a:buNone/>
            </a:pPr>
            <a:r>
              <a:rPr lang="en-US" sz="1400" i="1" dirty="0">
                <a:solidFill>
                  <a:srgbClr val="8FA3B8"/>
                </a:solidFill>
                <a:latin typeface="Calibri" pitchFamily="34" charset="0"/>
                <a:ea typeface="Calibri" pitchFamily="34" charset="-122"/>
                <a:cs typeface="Calibri" pitchFamily="34" charset="-120"/>
              </a:rPr>
              <a:t>From fragmented inventory records to centralized, reliable, actionable pharmaceutical inventory intelligence.</a:t>
            </a:r>
            <a:endParaRPr lang="en-US" sz="1400" dirty="0"/>
          </a:p>
        </p:txBody>
      </p:sp>
      <p:sp>
        <p:nvSpPr>
          <p:cNvPr id="16" name="Shape 14"/>
          <p:cNvSpPr/>
          <p:nvPr/>
        </p:nvSpPr>
        <p:spPr>
          <a:xfrm>
            <a:off x="640080" y="4892040"/>
            <a:ext cx="4206240" cy="1234440"/>
          </a:xfrm>
          <a:prstGeom prst="roundRect">
            <a:avLst>
              <a:gd name="adj" fmla="val 5926"/>
            </a:avLst>
          </a:prstGeom>
          <a:solidFill>
            <a:srgbClr val="0A2540"/>
          </a:solidFill>
          <a:ln w="12700">
            <a:solidFill>
              <a:srgbClr val="16344F"/>
            </a:solidFill>
            <a:prstDash val="solid"/>
          </a:ln>
        </p:spPr>
      </p:sp>
      <p:sp>
        <p:nvSpPr>
          <p:cNvPr id="17" name="Shape 15"/>
          <p:cNvSpPr/>
          <p:nvPr/>
        </p:nvSpPr>
        <p:spPr>
          <a:xfrm>
            <a:off x="841248" y="5184648"/>
            <a:ext cx="640080" cy="640080"/>
          </a:xfrm>
          <a:prstGeom prst="ellipse">
            <a:avLst/>
          </a:prstGeom>
          <a:solidFill>
            <a:srgbClr val="00B8A9"/>
          </a:solidFill>
          <a:ln/>
        </p:spPr>
      </p:sp>
      <p:sp>
        <p:nvSpPr>
          <p:cNvPr id="18" name="Text 16"/>
          <p:cNvSpPr/>
          <p:nvPr/>
        </p:nvSpPr>
        <p:spPr>
          <a:xfrm>
            <a:off x="841248" y="5184648"/>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KS</a:t>
            </a:r>
            <a:endParaRPr lang="en-US" sz="1600" dirty="0"/>
          </a:p>
        </p:txBody>
      </p:sp>
      <p:sp>
        <p:nvSpPr>
          <p:cNvPr id="19" name="Text 17"/>
          <p:cNvSpPr/>
          <p:nvPr/>
        </p:nvSpPr>
        <p:spPr>
          <a:xfrm>
            <a:off x="1645920" y="5120640"/>
            <a:ext cx="30175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KARKALA SHIVA REDDY</a:t>
            </a:r>
            <a:endParaRPr lang="en-US" sz="1400" dirty="0"/>
          </a:p>
        </p:txBody>
      </p:sp>
      <p:sp>
        <p:nvSpPr>
          <p:cNvPr id="20" name="Text 18"/>
          <p:cNvSpPr/>
          <p:nvPr/>
        </p:nvSpPr>
        <p:spPr>
          <a:xfrm>
            <a:off x="1645920" y="5486400"/>
            <a:ext cx="3017520" cy="320040"/>
          </a:xfrm>
          <a:prstGeom prst="rect">
            <a:avLst/>
          </a:prstGeom>
          <a:noFill/>
          <a:ln/>
        </p:spPr>
        <p:txBody>
          <a:bodyPr wrap="square" lIns="0" tIns="0" rIns="0" bIns="0" rtlCol="0" anchor="ctr"/>
          <a:lstStyle/>
          <a:p>
            <a:pPr indent="0" marL="0">
              <a:buNone/>
            </a:pPr>
            <a:r>
              <a:rPr lang="en-US" sz="1200" dirty="0">
                <a:solidFill>
                  <a:srgbClr val="B8C7D9"/>
                </a:solidFill>
                <a:latin typeface="Calibri" pitchFamily="34" charset="0"/>
                <a:ea typeface="Calibri" pitchFamily="34" charset="-122"/>
                <a:cs typeface="Calibri" pitchFamily="34" charset="-120"/>
              </a:rPr>
              <a:t>Roll No: 2520030105</a:t>
            </a:r>
            <a:endParaRPr lang="en-US" sz="1200" dirty="0"/>
          </a:p>
        </p:txBody>
      </p:sp>
      <p:sp>
        <p:nvSpPr>
          <p:cNvPr id="21" name="Shape 19"/>
          <p:cNvSpPr/>
          <p:nvPr/>
        </p:nvSpPr>
        <p:spPr>
          <a:xfrm>
            <a:off x="5166360" y="4892040"/>
            <a:ext cx="4206240" cy="1234440"/>
          </a:xfrm>
          <a:prstGeom prst="roundRect">
            <a:avLst>
              <a:gd name="adj" fmla="val 5926"/>
            </a:avLst>
          </a:prstGeom>
          <a:solidFill>
            <a:srgbClr val="0A2540"/>
          </a:solidFill>
          <a:ln w="12700">
            <a:solidFill>
              <a:srgbClr val="16344F"/>
            </a:solidFill>
            <a:prstDash val="solid"/>
          </a:ln>
        </p:spPr>
      </p:sp>
      <p:sp>
        <p:nvSpPr>
          <p:cNvPr id="22" name="Shape 20"/>
          <p:cNvSpPr/>
          <p:nvPr/>
        </p:nvSpPr>
        <p:spPr>
          <a:xfrm>
            <a:off x="5367528" y="5184648"/>
            <a:ext cx="640080" cy="640080"/>
          </a:xfrm>
          <a:prstGeom prst="ellipse">
            <a:avLst/>
          </a:prstGeom>
          <a:solidFill>
            <a:srgbClr val="00B8A9"/>
          </a:solidFill>
          <a:ln/>
        </p:spPr>
      </p:sp>
      <p:sp>
        <p:nvSpPr>
          <p:cNvPr id="23" name="Text 21"/>
          <p:cNvSpPr/>
          <p:nvPr/>
        </p:nvSpPr>
        <p:spPr>
          <a:xfrm>
            <a:off x="5367528" y="5184648"/>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PN</a:t>
            </a:r>
            <a:endParaRPr lang="en-US" sz="1600" dirty="0"/>
          </a:p>
        </p:txBody>
      </p:sp>
      <p:sp>
        <p:nvSpPr>
          <p:cNvPr id="24" name="Text 22"/>
          <p:cNvSpPr/>
          <p:nvPr/>
        </p:nvSpPr>
        <p:spPr>
          <a:xfrm>
            <a:off x="6172200" y="5120640"/>
            <a:ext cx="30175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PARIPALLI NAVADEEP</a:t>
            </a:r>
            <a:endParaRPr lang="en-US" sz="1400" dirty="0"/>
          </a:p>
        </p:txBody>
      </p:sp>
      <p:sp>
        <p:nvSpPr>
          <p:cNvPr id="25" name="Text 23"/>
          <p:cNvSpPr/>
          <p:nvPr/>
        </p:nvSpPr>
        <p:spPr>
          <a:xfrm>
            <a:off x="6172200" y="5486400"/>
            <a:ext cx="3017520" cy="320040"/>
          </a:xfrm>
          <a:prstGeom prst="rect">
            <a:avLst/>
          </a:prstGeom>
          <a:noFill/>
          <a:ln/>
        </p:spPr>
        <p:txBody>
          <a:bodyPr wrap="square" lIns="0" tIns="0" rIns="0" bIns="0" rtlCol="0" anchor="ctr"/>
          <a:lstStyle/>
          <a:p>
            <a:pPr indent="0" marL="0">
              <a:buNone/>
            </a:pPr>
            <a:r>
              <a:rPr lang="en-US" sz="1200" dirty="0">
                <a:solidFill>
                  <a:srgbClr val="B8C7D9"/>
                </a:solidFill>
                <a:latin typeface="Calibri" pitchFamily="34" charset="0"/>
                <a:ea typeface="Calibri" pitchFamily="34" charset="-122"/>
                <a:cs typeface="Calibri" pitchFamily="34" charset="-120"/>
              </a:rPr>
              <a:t>Roll No: 2520030196</a:t>
            </a:r>
            <a:endParaRPr lang="en-US" sz="1200" dirty="0"/>
          </a:p>
        </p:txBody>
      </p:sp>
      <p:sp>
        <p:nvSpPr>
          <p:cNvPr id="26" name="Text 24"/>
          <p:cNvSpPr/>
          <p:nvPr/>
        </p:nvSpPr>
        <p:spPr>
          <a:xfrm>
            <a:off x="640080" y="6355080"/>
            <a:ext cx="8229600" cy="320040"/>
          </a:xfrm>
          <a:prstGeom prst="rect">
            <a:avLst/>
          </a:prstGeom>
          <a:noFill/>
          <a:ln/>
        </p:spPr>
        <p:txBody>
          <a:bodyPr wrap="square" rtlCol="0" anchor="ctr"/>
          <a:lstStyle/>
          <a:p>
            <a:pPr indent="0" marL="0">
              <a:buNone/>
            </a:pPr>
            <a:r>
              <a:rPr lang="en-US" sz="1200" dirty="0">
                <a:solidFill>
                  <a:srgbClr val="8FA3B8"/>
                </a:solidFill>
                <a:latin typeface="Calibri" pitchFamily="34" charset="0"/>
                <a:ea typeface="Calibri" pitchFamily="34" charset="-122"/>
                <a:cs typeface="Calibri" pitchFamily="34" charset="-120"/>
              </a:rPr>
              <a:t>Project Guide   </a:t>
            </a:r>
            <a:pPr indent="0" marL="0">
              <a:buNone/>
            </a:pPr>
            <a:r>
              <a:rPr lang="en-US" sz="1400" b="1" dirty="0">
                <a:solidFill>
                  <a:srgbClr val="FFFFFF"/>
                </a:solidFill>
                <a:latin typeface="Calibri" pitchFamily="34" charset="0"/>
                <a:ea typeface="Calibri" pitchFamily="34" charset="-122"/>
                <a:cs typeface="Calibri" pitchFamily="34" charset="-120"/>
              </a:rPr>
              <a:t>Dr. R. Sateesh Kumar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00B8A9"/>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Abstract</a:t>
            </a:r>
            <a:endParaRPr lang="en-US" sz="3200" dirty="0"/>
          </a:p>
        </p:txBody>
      </p:sp>
      <p:sp>
        <p:nvSpPr>
          <p:cNvPr id="4" name="Text 2"/>
          <p:cNvSpPr/>
          <p:nvPr/>
        </p:nvSpPr>
        <p:spPr>
          <a:xfrm>
            <a:off x="548640" y="1828800"/>
            <a:ext cx="6309360" cy="4114800"/>
          </a:xfrm>
          <a:prstGeom prst="rect">
            <a:avLst/>
          </a:prstGeom>
          <a:noFill/>
          <a:ln/>
        </p:spPr>
        <p:txBody>
          <a:bodyPr wrap="square" rtlCol="0" anchor="t"/>
          <a:lstStyle/>
          <a:p>
            <a:pPr marL="228600" indent="-228600">
              <a:spcAft>
                <a:spcPts val="1200"/>
              </a:spcAft>
              <a:buSzPct val="100000"/>
              <a:buChar char="▪"/>
            </a:pPr>
            <a:r>
              <a:rPr lang="en-US" sz="1500" dirty="0">
                <a:solidFill>
                  <a:srgbClr val="102A43"/>
                </a:solidFill>
                <a:latin typeface="Calibri" pitchFamily="34" charset="0"/>
                <a:ea typeface="Calibri" pitchFamily="34" charset="-122"/>
                <a:cs typeface="Calibri" pitchFamily="34" charset="-120"/>
              </a:rPr>
              <a:t>Centralized platform for pharmaceutical medicine inventory management</a:t>
            </a:r>
            <a:endParaRPr lang="en-US" sz="1500" dirty="0"/>
          </a:p>
          <a:p>
            <a:pPr marL="228600" indent="-228600">
              <a:spcAft>
                <a:spcPts val="1200"/>
              </a:spcAft>
              <a:buSzPct val="100000"/>
              <a:buChar char="▪"/>
            </a:pPr>
            <a:r>
              <a:rPr lang="en-US" sz="1500" dirty="0">
                <a:solidFill>
                  <a:srgbClr val="102A43"/>
                </a:solidFill>
                <a:latin typeface="Calibri" pitchFamily="34" charset="0"/>
                <a:ea typeface="Calibri" pitchFamily="34" charset="-122"/>
                <a:cs typeface="Calibri" pitchFamily="34" charset="-120"/>
              </a:rPr>
              <a:t>Maintains structured medicine, supplier, batch and transaction data</a:t>
            </a:r>
            <a:endParaRPr lang="en-US" sz="1500" dirty="0"/>
          </a:p>
          <a:p>
            <a:pPr marL="228600" indent="-228600">
              <a:spcAft>
                <a:spcPts val="1200"/>
              </a:spcAft>
              <a:buSzPct val="100000"/>
              <a:buChar char="▪"/>
            </a:pPr>
            <a:r>
              <a:rPr lang="en-US" sz="1500" dirty="0">
                <a:solidFill>
                  <a:srgbClr val="102A43"/>
                </a:solidFill>
                <a:latin typeface="Calibri" pitchFamily="34" charset="0"/>
                <a:ea typeface="Calibri" pitchFamily="34" charset="-122"/>
                <a:cs typeface="Calibri" pitchFamily="34" charset="-120"/>
              </a:rPr>
              <a:t>Enables batch-wise stock visibility and inventory monitoring</a:t>
            </a:r>
            <a:endParaRPr lang="en-US" sz="1500" dirty="0"/>
          </a:p>
          <a:p>
            <a:pPr marL="228600" indent="-228600">
              <a:spcAft>
                <a:spcPts val="1200"/>
              </a:spcAft>
              <a:buSzPct val="100000"/>
              <a:buChar char="▪"/>
            </a:pPr>
            <a:r>
              <a:rPr lang="en-US" sz="1500" dirty="0">
                <a:solidFill>
                  <a:srgbClr val="102A43"/>
                </a:solidFill>
                <a:latin typeface="Calibri" pitchFamily="34" charset="0"/>
                <a:ea typeface="Calibri" pitchFamily="34" charset="-122"/>
                <a:cs typeface="Calibri" pitchFamily="34" charset="-120"/>
              </a:rPr>
              <a:t>Identifies low-stock and near-expiry conditions</a:t>
            </a:r>
            <a:endParaRPr lang="en-US" sz="1500" dirty="0"/>
          </a:p>
          <a:p>
            <a:pPr marL="228600" indent="-228600">
              <a:spcAft>
                <a:spcPts val="1200"/>
              </a:spcAft>
              <a:buSzPct val="100000"/>
              <a:buChar char="▪"/>
            </a:pPr>
            <a:r>
              <a:rPr lang="en-US" sz="1500" dirty="0">
                <a:solidFill>
                  <a:srgbClr val="102A43"/>
                </a:solidFill>
                <a:latin typeface="Calibri" pitchFamily="34" charset="0"/>
                <a:ea typeface="Calibri" pitchFamily="34" charset="-122"/>
                <a:cs typeface="Calibri" pitchFamily="34" charset="-120"/>
              </a:rPr>
              <a:t>Provides analytics for faster inventory decisions</a:t>
            </a:r>
            <a:endParaRPr lang="en-US" sz="1500" dirty="0"/>
          </a:p>
          <a:p>
            <a:pPr marL="228600" indent="-228600">
              <a:spcAft>
                <a:spcPts val="1200"/>
              </a:spcAft>
              <a:buSzPct val="100000"/>
              <a:buChar char="▪"/>
            </a:pPr>
            <a:r>
              <a:rPr lang="en-US" sz="1500" dirty="0">
                <a:solidFill>
                  <a:srgbClr val="102A43"/>
                </a:solidFill>
                <a:latin typeface="Calibri" pitchFamily="34" charset="0"/>
                <a:ea typeface="Calibri" pitchFamily="34" charset="-122"/>
                <a:cs typeface="Calibri" pitchFamily="34" charset="-120"/>
              </a:rPr>
              <a:t>Uses MongoDB and Mongoose for flexible, structured data persistence</a:t>
            </a:r>
            <a:endParaRPr lang="en-US" sz="1500" dirty="0"/>
          </a:p>
          <a:p>
            <a:pPr marL="228600" indent="-228600">
              <a:spcAft>
                <a:spcPts val="1200"/>
              </a:spcAft>
              <a:buSzPct val="100000"/>
              <a:buChar char="▪"/>
            </a:pPr>
            <a:r>
              <a:rPr lang="en-US" sz="1500" dirty="0">
                <a:solidFill>
                  <a:srgbClr val="102A43"/>
                </a:solidFill>
                <a:latin typeface="Calibri" pitchFamily="34" charset="0"/>
                <a:ea typeface="Calibri" pitchFamily="34" charset="-122"/>
                <a:cs typeface="Calibri" pitchFamily="34" charset="-120"/>
              </a:rPr>
              <a:t>React.js powers the interface, while Node.js and Express.js provide the backend services</a:t>
            </a:r>
            <a:endParaRPr lang="en-US" sz="1500" dirty="0"/>
          </a:p>
        </p:txBody>
      </p:sp>
      <p:sp>
        <p:nvSpPr>
          <p:cNvPr id="5" name="Shape 3"/>
          <p:cNvSpPr/>
          <p:nvPr/>
        </p:nvSpPr>
        <p:spPr>
          <a:xfrm>
            <a:off x="7315200" y="1965960"/>
            <a:ext cx="4297680" cy="566928"/>
          </a:xfrm>
          <a:prstGeom prst="roundRect">
            <a:avLst>
              <a:gd name="adj" fmla="val 11290"/>
            </a:avLst>
          </a:prstGeom>
          <a:solidFill>
            <a:srgbClr val="0A2540"/>
          </a:solidFill>
          <a:ln/>
          <a:effectLst>
            <a:outerShdw sx="100000" sy="100000" kx="0" ky="0" algn="bl" rotWithShape="0" blurRad="76200" dist="25400" dir="5400000">
              <a:srgbClr val="1F2937">
                <a:alpha val="25000"/>
              </a:srgbClr>
            </a:outerShdw>
          </a:effectLst>
        </p:spPr>
      </p:sp>
      <p:sp>
        <p:nvSpPr>
          <p:cNvPr id="6" name="Shape 4"/>
          <p:cNvSpPr/>
          <p:nvPr/>
        </p:nvSpPr>
        <p:spPr>
          <a:xfrm>
            <a:off x="7443216" y="2066544"/>
            <a:ext cx="365760" cy="365760"/>
          </a:xfrm>
          <a:prstGeom prst="ellipse">
            <a:avLst/>
          </a:prstGeom>
          <a:solidFill>
            <a:srgbClr val="00B8A9"/>
          </a:solidFill>
          <a:ln/>
        </p:spPr>
      </p:sp>
      <p:sp>
        <p:nvSpPr>
          <p:cNvPr id="7" name="Text 5"/>
          <p:cNvSpPr/>
          <p:nvPr/>
        </p:nvSpPr>
        <p:spPr>
          <a:xfrm>
            <a:off x="7443216" y="2066544"/>
            <a:ext cx="365760" cy="365760"/>
          </a:xfrm>
          <a:prstGeom prst="rect">
            <a:avLst/>
          </a:prstGeom>
          <a:noFill/>
          <a:ln/>
        </p:spPr>
        <p:txBody>
          <a:bodyPr wrap="square" lIns="0" tIns="0" rIns="0" bIns="0" rtlCol="0" anchor="ctr"/>
          <a:lstStyle/>
          <a:p>
            <a:pPr algn="ctr" indent="0" marL="0">
              <a:buNone/>
            </a:pPr>
            <a:r>
              <a:rPr lang="en-US" sz="1000" b="1" dirty="0">
                <a:solidFill>
                  <a:srgbClr val="071A2B"/>
                </a:solidFill>
                <a:latin typeface="Calibri" pitchFamily="34" charset="0"/>
                <a:ea typeface="Calibri" pitchFamily="34" charset="-122"/>
                <a:cs typeface="Calibri" pitchFamily="34" charset="-120"/>
              </a:rPr>
              <a:t>Rx</a:t>
            </a:r>
            <a:endParaRPr lang="en-US" sz="1000" dirty="0"/>
          </a:p>
        </p:txBody>
      </p:sp>
      <p:sp>
        <p:nvSpPr>
          <p:cNvPr id="8" name="Text 6"/>
          <p:cNvSpPr/>
          <p:nvPr/>
        </p:nvSpPr>
        <p:spPr>
          <a:xfrm>
            <a:off x="7955280" y="1965960"/>
            <a:ext cx="3520440"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Medicine</a:t>
            </a:r>
            <a:endParaRPr lang="en-US" sz="1500" dirty="0"/>
          </a:p>
        </p:txBody>
      </p:sp>
      <p:sp>
        <p:nvSpPr>
          <p:cNvPr id="9" name="Shape 7"/>
          <p:cNvSpPr/>
          <p:nvPr/>
        </p:nvSpPr>
        <p:spPr>
          <a:xfrm>
            <a:off x="9381744" y="2587752"/>
            <a:ext cx="164592" cy="164592"/>
          </a:xfrm>
          <a:prstGeom prst="ellipse">
            <a:avLst/>
          </a:prstGeom>
          <a:solidFill>
            <a:srgbClr val="00B8A9"/>
          </a:solidFill>
          <a:ln/>
        </p:spPr>
      </p:sp>
      <p:sp>
        <p:nvSpPr>
          <p:cNvPr id="10" name="Shape 8"/>
          <p:cNvSpPr/>
          <p:nvPr/>
        </p:nvSpPr>
        <p:spPr>
          <a:xfrm>
            <a:off x="7315200" y="2807208"/>
            <a:ext cx="4297680" cy="566928"/>
          </a:xfrm>
          <a:prstGeom prst="roundRect">
            <a:avLst>
              <a:gd name="adj" fmla="val 11290"/>
            </a:avLst>
          </a:prstGeom>
          <a:solidFill>
            <a:srgbClr val="0A2540"/>
          </a:solidFill>
          <a:ln/>
          <a:effectLst>
            <a:outerShdw sx="100000" sy="100000" kx="0" ky="0" algn="bl" rotWithShape="0" blurRad="76200" dist="25400" dir="5400000">
              <a:srgbClr val="1F2937">
                <a:alpha val="25000"/>
              </a:srgbClr>
            </a:outerShdw>
          </a:effectLst>
        </p:spPr>
      </p:sp>
      <p:sp>
        <p:nvSpPr>
          <p:cNvPr id="11" name="Shape 9"/>
          <p:cNvSpPr/>
          <p:nvPr/>
        </p:nvSpPr>
        <p:spPr>
          <a:xfrm>
            <a:off x="7443216" y="2907792"/>
            <a:ext cx="365760" cy="365760"/>
          </a:xfrm>
          <a:prstGeom prst="ellipse">
            <a:avLst/>
          </a:prstGeom>
          <a:solidFill>
            <a:srgbClr val="00B8A9"/>
          </a:solidFill>
          <a:ln/>
        </p:spPr>
      </p:sp>
      <p:sp>
        <p:nvSpPr>
          <p:cNvPr id="12" name="Text 10"/>
          <p:cNvSpPr/>
          <p:nvPr/>
        </p:nvSpPr>
        <p:spPr>
          <a:xfrm>
            <a:off x="7443216" y="2907792"/>
            <a:ext cx="365760" cy="365760"/>
          </a:xfrm>
          <a:prstGeom prst="rect">
            <a:avLst/>
          </a:prstGeom>
          <a:noFill/>
          <a:ln/>
        </p:spPr>
        <p:txBody>
          <a:bodyPr wrap="square" lIns="0" tIns="0" rIns="0" bIns="0" rtlCol="0" anchor="ctr"/>
          <a:lstStyle/>
          <a:p>
            <a:pPr algn="ctr" indent="0" marL="0">
              <a:buNone/>
            </a:pPr>
            <a:r>
              <a:rPr lang="en-US" sz="1000" b="1" dirty="0">
                <a:solidFill>
                  <a:srgbClr val="071A2B"/>
                </a:solidFill>
                <a:latin typeface="Calibri" pitchFamily="34" charset="0"/>
                <a:ea typeface="Calibri" pitchFamily="34" charset="-122"/>
                <a:cs typeface="Calibri" pitchFamily="34" charset="-120"/>
              </a:rPr>
              <a:t>BT</a:t>
            </a:r>
            <a:endParaRPr lang="en-US" sz="1000" dirty="0"/>
          </a:p>
        </p:txBody>
      </p:sp>
      <p:sp>
        <p:nvSpPr>
          <p:cNvPr id="13" name="Text 11"/>
          <p:cNvSpPr/>
          <p:nvPr/>
        </p:nvSpPr>
        <p:spPr>
          <a:xfrm>
            <a:off x="7955280" y="2807208"/>
            <a:ext cx="3520440"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Batch</a:t>
            </a:r>
            <a:endParaRPr lang="en-US" sz="1500" dirty="0"/>
          </a:p>
        </p:txBody>
      </p:sp>
      <p:sp>
        <p:nvSpPr>
          <p:cNvPr id="14" name="Shape 12"/>
          <p:cNvSpPr/>
          <p:nvPr/>
        </p:nvSpPr>
        <p:spPr>
          <a:xfrm>
            <a:off x="9381744" y="3429000"/>
            <a:ext cx="164592" cy="164592"/>
          </a:xfrm>
          <a:prstGeom prst="ellipse">
            <a:avLst/>
          </a:prstGeom>
          <a:solidFill>
            <a:srgbClr val="00B8A9"/>
          </a:solidFill>
          <a:ln/>
        </p:spPr>
      </p:sp>
      <p:sp>
        <p:nvSpPr>
          <p:cNvPr id="15" name="Shape 13"/>
          <p:cNvSpPr/>
          <p:nvPr/>
        </p:nvSpPr>
        <p:spPr>
          <a:xfrm>
            <a:off x="7315200" y="3648456"/>
            <a:ext cx="4297680" cy="566928"/>
          </a:xfrm>
          <a:prstGeom prst="roundRect">
            <a:avLst>
              <a:gd name="adj" fmla="val 11290"/>
            </a:avLst>
          </a:prstGeom>
          <a:solidFill>
            <a:srgbClr val="0A2540"/>
          </a:solidFill>
          <a:ln/>
          <a:effectLst>
            <a:outerShdw sx="100000" sy="100000" kx="0" ky="0" algn="bl" rotWithShape="0" blurRad="76200" dist="25400" dir="5400000">
              <a:srgbClr val="1F2937">
                <a:alpha val="25000"/>
              </a:srgbClr>
            </a:outerShdw>
          </a:effectLst>
        </p:spPr>
      </p:sp>
      <p:sp>
        <p:nvSpPr>
          <p:cNvPr id="16" name="Shape 14"/>
          <p:cNvSpPr/>
          <p:nvPr/>
        </p:nvSpPr>
        <p:spPr>
          <a:xfrm>
            <a:off x="7443216" y="3749040"/>
            <a:ext cx="365760" cy="365760"/>
          </a:xfrm>
          <a:prstGeom prst="ellipse">
            <a:avLst/>
          </a:prstGeom>
          <a:solidFill>
            <a:srgbClr val="00B8A9"/>
          </a:solidFill>
          <a:ln/>
        </p:spPr>
      </p:sp>
      <p:sp>
        <p:nvSpPr>
          <p:cNvPr id="17" name="Text 15"/>
          <p:cNvSpPr/>
          <p:nvPr/>
        </p:nvSpPr>
        <p:spPr>
          <a:xfrm>
            <a:off x="7443216" y="3749040"/>
            <a:ext cx="365760" cy="365760"/>
          </a:xfrm>
          <a:prstGeom prst="rect">
            <a:avLst/>
          </a:prstGeom>
          <a:noFill/>
          <a:ln/>
        </p:spPr>
        <p:txBody>
          <a:bodyPr wrap="square" lIns="0" tIns="0" rIns="0" bIns="0" rtlCol="0" anchor="ctr"/>
          <a:lstStyle/>
          <a:p>
            <a:pPr algn="ctr" indent="0" marL="0">
              <a:buNone/>
            </a:pPr>
            <a:r>
              <a:rPr lang="en-US" sz="1000" b="1" dirty="0">
                <a:solidFill>
                  <a:srgbClr val="071A2B"/>
                </a:solidFill>
                <a:latin typeface="Calibri" pitchFamily="34" charset="0"/>
                <a:ea typeface="Calibri" pitchFamily="34" charset="-122"/>
                <a:cs typeface="Calibri" pitchFamily="34" charset="-120"/>
              </a:rPr>
              <a:t>ST</a:t>
            </a:r>
            <a:endParaRPr lang="en-US" sz="1000" dirty="0"/>
          </a:p>
        </p:txBody>
      </p:sp>
      <p:sp>
        <p:nvSpPr>
          <p:cNvPr id="18" name="Text 16"/>
          <p:cNvSpPr/>
          <p:nvPr/>
        </p:nvSpPr>
        <p:spPr>
          <a:xfrm>
            <a:off x="7955280" y="3648456"/>
            <a:ext cx="3520440"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Stock</a:t>
            </a:r>
            <a:endParaRPr lang="en-US" sz="1500" dirty="0"/>
          </a:p>
        </p:txBody>
      </p:sp>
      <p:sp>
        <p:nvSpPr>
          <p:cNvPr id="19" name="Shape 17"/>
          <p:cNvSpPr/>
          <p:nvPr/>
        </p:nvSpPr>
        <p:spPr>
          <a:xfrm>
            <a:off x="9381744" y="4270248"/>
            <a:ext cx="164592" cy="164592"/>
          </a:xfrm>
          <a:prstGeom prst="ellipse">
            <a:avLst/>
          </a:prstGeom>
          <a:solidFill>
            <a:srgbClr val="00B8A9"/>
          </a:solidFill>
          <a:ln/>
        </p:spPr>
      </p:sp>
      <p:sp>
        <p:nvSpPr>
          <p:cNvPr id="20" name="Shape 18"/>
          <p:cNvSpPr/>
          <p:nvPr/>
        </p:nvSpPr>
        <p:spPr>
          <a:xfrm>
            <a:off x="7315200" y="4489704"/>
            <a:ext cx="4297680" cy="566928"/>
          </a:xfrm>
          <a:prstGeom prst="roundRect">
            <a:avLst>
              <a:gd name="adj" fmla="val 11290"/>
            </a:avLst>
          </a:prstGeom>
          <a:solidFill>
            <a:srgbClr val="0A2540"/>
          </a:solidFill>
          <a:ln/>
          <a:effectLst>
            <a:outerShdw sx="100000" sy="100000" kx="0" ky="0" algn="bl" rotWithShape="0" blurRad="76200" dist="25400" dir="5400000">
              <a:srgbClr val="1F2937">
                <a:alpha val="25000"/>
              </a:srgbClr>
            </a:outerShdw>
          </a:effectLst>
        </p:spPr>
      </p:sp>
      <p:sp>
        <p:nvSpPr>
          <p:cNvPr id="21" name="Shape 19"/>
          <p:cNvSpPr/>
          <p:nvPr/>
        </p:nvSpPr>
        <p:spPr>
          <a:xfrm>
            <a:off x="7443216" y="4590288"/>
            <a:ext cx="365760" cy="365760"/>
          </a:xfrm>
          <a:prstGeom prst="ellipse">
            <a:avLst/>
          </a:prstGeom>
          <a:solidFill>
            <a:srgbClr val="00B8A9"/>
          </a:solidFill>
          <a:ln/>
        </p:spPr>
      </p:sp>
      <p:sp>
        <p:nvSpPr>
          <p:cNvPr id="22" name="Text 20"/>
          <p:cNvSpPr/>
          <p:nvPr/>
        </p:nvSpPr>
        <p:spPr>
          <a:xfrm>
            <a:off x="7443216" y="4590288"/>
            <a:ext cx="365760" cy="365760"/>
          </a:xfrm>
          <a:prstGeom prst="rect">
            <a:avLst/>
          </a:prstGeom>
          <a:noFill/>
          <a:ln/>
        </p:spPr>
        <p:txBody>
          <a:bodyPr wrap="square" lIns="0" tIns="0" rIns="0" bIns="0" rtlCol="0" anchor="ctr"/>
          <a:lstStyle/>
          <a:p>
            <a:pPr algn="ctr" indent="0" marL="0">
              <a:buNone/>
            </a:pPr>
            <a:r>
              <a:rPr lang="en-US" sz="1000" b="1" dirty="0">
                <a:solidFill>
                  <a:srgbClr val="071A2B"/>
                </a:solidFill>
                <a:latin typeface="Calibri" pitchFamily="34" charset="0"/>
                <a:ea typeface="Calibri" pitchFamily="34" charset="-122"/>
                <a:cs typeface="Calibri" pitchFamily="34" charset="-120"/>
              </a:rPr>
              <a:t>TX</a:t>
            </a:r>
            <a:endParaRPr lang="en-US" sz="1000" dirty="0"/>
          </a:p>
        </p:txBody>
      </p:sp>
      <p:sp>
        <p:nvSpPr>
          <p:cNvPr id="23" name="Text 21"/>
          <p:cNvSpPr/>
          <p:nvPr/>
        </p:nvSpPr>
        <p:spPr>
          <a:xfrm>
            <a:off x="7955280" y="4489704"/>
            <a:ext cx="3520440"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Transaction</a:t>
            </a:r>
            <a:endParaRPr lang="en-US" sz="1500" dirty="0"/>
          </a:p>
        </p:txBody>
      </p:sp>
      <p:sp>
        <p:nvSpPr>
          <p:cNvPr id="24" name="Shape 22"/>
          <p:cNvSpPr/>
          <p:nvPr/>
        </p:nvSpPr>
        <p:spPr>
          <a:xfrm>
            <a:off x="9381744" y="5111496"/>
            <a:ext cx="164592" cy="164592"/>
          </a:xfrm>
          <a:prstGeom prst="ellipse">
            <a:avLst/>
          </a:prstGeom>
          <a:solidFill>
            <a:srgbClr val="00B8A9"/>
          </a:solidFill>
          <a:ln/>
        </p:spPr>
      </p:sp>
      <p:sp>
        <p:nvSpPr>
          <p:cNvPr id="25" name="Shape 23"/>
          <p:cNvSpPr/>
          <p:nvPr/>
        </p:nvSpPr>
        <p:spPr>
          <a:xfrm>
            <a:off x="7315200" y="5330952"/>
            <a:ext cx="4297680" cy="566928"/>
          </a:xfrm>
          <a:prstGeom prst="roundRect">
            <a:avLst>
              <a:gd name="adj" fmla="val 11290"/>
            </a:avLst>
          </a:prstGeom>
          <a:solidFill>
            <a:srgbClr val="00B8A9"/>
          </a:solidFill>
          <a:ln/>
          <a:effectLst>
            <a:outerShdw sx="100000" sy="100000" kx="0" ky="0" algn="bl" rotWithShape="0" blurRad="76200" dist="25400" dir="5400000">
              <a:srgbClr val="1F2937">
                <a:alpha val="25000"/>
              </a:srgbClr>
            </a:outerShdw>
          </a:effectLst>
        </p:spPr>
      </p:sp>
      <p:sp>
        <p:nvSpPr>
          <p:cNvPr id="26" name="Shape 24"/>
          <p:cNvSpPr/>
          <p:nvPr/>
        </p:nvSpPr>
        <p:spPr>
          <a:xfrm>
            <a:off x="7443216" y="5431536"/>
            <a:ext cx="365760" cy="365760"/>
          </a:xfrm>
          <a:prstGeom prst="ellipse">
            <a:avLst/>
          </a:prstGeom>
          <a:solidFill>
            <a:srgbClr val="071A2B"/>
          </a:solidFill>
          <a:ln/>
        </p:spPr>
      </p:sp>
      <p:sp>
        <p:nvSpPr>
          <p:cNvPr id="27" name="Text 25"/>
          <p:cNvSpPr/>
          <p:nvPr/>
        </p:nvSpPr>
        <p:spPr>
          <a:xfrm>
            <a:off x="7443216" y="5431536"/>
            <a:ext cx="365760" cy="36576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AN</a:t>
            </a:r>
            <a:endParaRPr lang="en-US" sz="1000" dirty="0"/>
          </a:p>
        </p:txBody>
      </p:sp>
      <p:sp>
        <p:nvSpPr>
          <p:cNvPr id="28" name="Text 26"/>
          <p:cNvSpPr/>
          <p:nvPr/>
        </p:nvSpPr>
        <p:spPr>
          <a:xfrm>
            <a:off x="7955280" y="5330952"/>
            <a:ext cx="3520440"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Analytics</a:t>
            </a:r>
            <a:endParaRPr lang="en-US" sz="1500" dirty="0"/>
          </a:p>
        </p:txBody>
      </p:sp>
      <p:sp>
        <p:nvSpPr>
          <p:cNvPr id="29" name="Shape 27"/>
          <p:cNvSpPr/>
          <p:nvPr/>
        </p:nvSpPr>
        <p:spPr>
          <a:xfrm>
            <a:off x="548640" y="5989320"/>
            <a:ext cx="11064240" cy="438912"/>
          </a:xfrm>
          <a:prstGeom prst="roundRect">
            <a:avLst>
              <a:gd name="adj" fmla="val 12500"/>
            </a:avLst>
          </a:prstGeom>
          <a:solidFill>
            <a:srgbClr val="0A2540"/>
          </a:solidFill>
          <a:ln/>
        </p:spPr>
      </p:sp>
      <p:sp>
        <p:nvSpPr>
          <p:cNvPr id="30" name="Text 28"/>
          <p:cNvSpPr/>
          <p:nvPr/>
        </p:nvSpPr>
        <p:spPr>
          <a:xfrm>
            <a:off x="548640" y="5989320"/>
            <a:ext cx="1106424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Centralized Data  →  Reliable Inventory  →  Actionable Analytics</a:t>
            </a:r>
            <a:endParaRPr lang="en-US" sz="1500" dirty="0"/>
          </a:p>
        </p:txBody>
      </p:sp>
      <p:sp>
        <p:nvSpPr>
          <p:cNvPr id="32" name="Text 29"/>
          <p:cNvSpPr/>
          <p:nvPr/>
        </p:nvSpPr>
        <p:spPr>
          <a:xfrm>
            <a:off x="457200" y="6510528"/>
            <a:ext cx="8686800" cy="274320"/>
          </a:xfrm>
          <a:prstGeom prst="rect">
            <a:avLst/>
          </a:prstGeom>
          <a:noFill/>
          <a:ln/>
        </p:spPr>
        <p:txBody>
          <a:bodyPr wrap="square" rtlCol="0" anchor="ctr"/>
          <a:lstStyle/>
          <a:p>
            <a:pPr algn="l" indent="0" marL="0">
              <a:buNone/>
            </a:pPr>
            <a:r>
              <a:rPr lang="en-US" sz="900" dirty="0">
                <a:solidFill>
                  <a:srgbClr val="52606D"/>
                </a:solidFill>
                <a:latin typeface="Calibri" pitchFamily="34" charset="0"/>
                <a:ea typeface="Calibri" pitchFamily="34" charset="-122"/>
                <a:cs typeface="Calibri" pitchFamily="34" charset="-120"/>
              </a:rPr>
              <a:t>Medicine Stock Management &amp; Analytics Portal  |  Project Review – 2</a:t>
            </a:r>
            <a:endParaRPr lang="en-US" sz="900" dirty="0"/>
          </a:p>
        </p:txBody>
      </p:sp>
      <p:sp>
        <p:nvSpPr>
          <p:cNvPr id="33" name="Text 30"/>
          <p:cNvSpPr/>
          <p:nvPr/>
        </p:nvSpPr>
        <p:spPr>
          <a:xfrm>
            <a:off x="11277295" y="6510528"/>
            <a:ext cx="457200" cy="274320"/>
          </a:xfrm>
          <a:prstGeom prst="rect">
            <a:avLst/>
          </a:prstGeom>
          <a:noFill/>
          <a:ln/>
        </p:spPr>
        <p:txBody>
          <a:bodyPr wrap="square"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00B8A9"/>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Problem Statement</a:t>
            </a:r>
            <a:endParaRPr lang="en-US" sz="3200" dirty="0"/>
          </a:p>
        </p:txBody>
      </p:sp>
      <p:sp>
        <p:nvSpPr>
          <p:cNvPr id="4" name="Text 2"/>
          <p:cNvSpPr/>
          <p:nvPr/>
        </p:nvSpPr>
        <p:spPr>
          <a:xfrm>
            <a:off x="548640" y="1261872"/>
            <a:ext cx="10515600" cy="365760"/>
          </a:xfrm>
          <a:prstGeom prst="rect">
            <a:avLst/>
          </a:prstGeom>
          <a:noFill/>
          <a:ln/>
        </p:spPr>
        <p:txBody>
          <a:bodyPr wrap="square" rtlCol="0" anchor="ctr"/>
          <a:lstStyle/>
          <a:p>
            <a:pPr indent="0" marL="0">
              <a:buNone/>
            </a:pPr>
            <a:r>
              <a:rPr lang="en-US" sz="1500" i="1" dirty="0">
                <a:solidFill>
                  <a:srgbClr val="52606D"/>
                </a:solidFill>
                <a:latin typeface="Calibri" pitchFamily="34" charset="0"/>
                <a:ea typeface="Calibri" pitchFamily="34" charset="-122"/>
                <a:cs typeface="Calibri" pitchFamily="34" charset="-120"/>
              </a:rPr>
              <a:t>Why conventional inventory handling is difficult to scale</a:t>
            </a:r>
            <a:endParaRPr lang="en-US" sz="1500" dirty="0"/>
          </a:p>
        </p:txBody>
      </p:sp>
      <p:sp>
        <p:nvSpPr>
          <p:cNvPr id="5" name="Shape 3"/>
          <p:cNvSpPr/>
          <p:nvPr/>
        </p:nvSpPr>
        <p:spPr>
          <a:xfrm>
            <a:off x="548640" y="1920240"/>
            <a:ext cx="2697480" cy="3566160"/>
          </a:xfrm>
          <a:prstGeom prst="roundRect">
            <a:avLst>
              <a:gd name="adj" fmla="val 3051"/>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6" name="Shape 4"/>
          <p:cNvSpPr/>
          <p:nvPr/>
        </p:nvSpPr>
        <p:spPr>
          <a:xfrm>
            <a:off x="777240" y="2194560"/>
            <a:ext cx="548640" cy="548640"/>
          </a:xfrm>
          <a:prstGeom prst="roundRect">
            <a:avLst>
              <a:gd name="adj" fmla="val 50000"/>
            </a:avLst>
          </a:prstGeom>
          <a:solidFill>
            <a:srgbClr val="F59E0B"/>
          </a:solidFill>
          <a:ln/>
        </p:spPr>
      </p:sp>
      <p:sp>
        <p:nvSpPr>
          <p:cNvPr id="7" name="Text 5"/>
          <p:cNvSpPr/>
          <p:nvPr/>
        </p:nvSpPr>
        <p:spPr>
          <a:xfrm>
            <a:off x="777240" y="2194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777240" y="2971800"/>
            <a:ext cx="2240280" cy="5943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Fragmented Records</a:t>
            </a:r>
            <a:endParaRPr lang="en-US" sz="1600" dirty="0"/>
          </a:p>
        </p:txBody>
      </p:sp>
      <p:sp>
        <p:nvSpPr>
          <p:cNvPr id="9" name="Text 7"/>
          <p:cNvSpPr/>
          <p:nvPr/>
        </p:nvSpPr>
        <p:spPr>
          <a:xfrm>
            <a:off x="777240" y="3611880"/>
            <a:ext cx="2240280" cy="1737360"/>
          </a:xfrm>
          <a:prstGeom prst="rect">
            <a:avLst/>
          </a:prstGeom>
          <a:noFill/>
          <a:ln/>
        </p:spPr>
        <p:txBody>
          <a:bodyPr wrap="square" lIns="0" tIns="0" rIns="0" bIns="0" rtlCol="0" anchor="t"/>
          <a:lstStyle/>
          <a:p>
            <a:pPr indent="0" marL="0">
              <a:buNone/>
            </a:pPr>
            <a:r>
              <a:rPr lang="en-US" sz="1250" dirty="0">
                <a:solidFill>
                  <a:srgbClr val="52606D"/>
                </a:solidFill>
                <a:latin typeface="Calibri" pitchFamily="34" charset="0"/>
                <a:ea typeface="Calibri" pitchFamily="34" charset="-122"/>
                <a:cs typeface="Calibri" pitchFamily="34" charset="-120"/>
              </a:rPr>
              <a:t>Manual or disconnected records make inventory information difficult to access and maintain consistently.</a:t>
            </a:r>
            <a:endParaRPr lang="en-US" sz="1250" dirty="0"/>
          </a:p>
        </p:txBody>
      </p:sp>
      <p:sp>
        <p:nvSpPr>
          <p:cNvPr id="10" name="Shape 8"/>
          <p:cNvSpPr/>
          <p:nvPr/>
        </p:nvSpPr>
        <p:spPr>
          <a:xfrm>
            <a:off x="3474720" y="1920240"/>
            <a:ext cx="2697480" cy="3566160"/>
          </a:xfrm>
          <a:prstGeom prst="roundRect">
            <a:avLst>
              <a:gd name="adj" fmla="val 3051"/>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11" name="Shape 9"/>
          <p:cNvSpPr/>
          <p:nvPr/>
        </p:nvSpPr>
        <p:spPr>
          <a:xfrm>
            <a:off x="3703320" y="2194560"/>
            <a:ext cx="548640" cy="548640"/>
          </a:xfrm>
          <a:prstGeom prst="roundRect">
            <a:avLst>
              <a:gd name="adj" fmla="val 50000"/>
            </a:avLst>
          </a:prstGeom>
          <a:solidFill>
            <a:srgbClr val="F59E0B"/>
          </a:solidFill>
          <a:ln/>
        </p:spPr>
      </p:sp>
      <p:sp>
        <p:nvSpPr>
          <p:cNvPr id="12" name="Text 10"/>
          <p:cNvSpPr/>
          <p:nvPr/>
        </p:nvSpPr>
        <p:spPr>
          <a:xfrm>
            <a:off x="3703320" y="2194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3703320" y="2971800"/>
            <a:ext cx="2240280" cy="5943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Inventory Inconsistency</a:t>
            </a:r>
            <a:endParaRPr lang="en-US" sz="1600" dirty="0"/>
          </a:p>
        </p:txBody>
      </p:sp>
      <p:sp>
        <p:nvSpPr>
          <p:cNvPr id="14" name="Text 12"/>
          <p:cNvSpPr/>
          <p:nvPr/>
        </p:nvSpPr>
        <p:spPr>
          <a:xfrm>
            <a:off x="3703320" y="3611880"/>
            <a:ext cx="2240280" cy="1737360"/>
          </a:xfrm>
          <a:prstGeom prst="rect">
            <a:avLst/>
          </a:prstGeom>
          <a:noFill/>
          <a:ln/>
        </p:spPr>
        <p:txBody>
          <a:bodyPr wrap="square" lIns="0" tIns="0" rIns="0" bIns="0" rtlCol="0" anchor="t"/>
          <a:lstStyle/>
          <a:p>
            <a:pPr indent="0" marL="0">
              <a:buNone/>
            </a:pPr>
            <a:r>
              <a:rPr lang="en-US" sz="1250" dirty="0">
                <a:solidFill>
                  <a:srgbClr val="52606D"/>
                </a:solidFill>
                <a:latin typeface="Calibri" pitchFamily="34" charset="0"/>
                <a:ea typeface="Calibri" pitchFamily="34" charset="-122"/>
                <a:cs typeface="Calibri" pitchFamily="34" charset="-120"/>
              </a:rPr>
              <a:t>Medicine, supplier, batch, quantity, purchase, sale and expiry information can become difficult to synchronize.</a:t>
            </a:r>
            <a:endParaRPr lang="en-US" sz="1250" dirty="0"/>
          </a:p>
        </p:txBody>
      </p:sp>
      <p:sp>
        <p:nvSpPr>
          <p:cNvPr id="15" name="Shape 13"/>
          <p:cNvSpPr/>
          <p:nvPr/>
        </p:nvSpPr>
        <p:spPr>
          <a:xfrm>
            <a:off x="6400800" y="1920240"/>
            <a:ext cx="2697480" cy="3566160"/>
          </a:xfrm>
          <a:prstGeom prst="roundRect">
            <a:avLst>
              <a:gd name="adj" fmla="val 3051"/>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16" name="Shape 14"/>
          <p:cNvSpPr/>
          <p:nvPr/>
        </p:nvSpPr>
        <p:spPr>
          <a:xfrm>
            <a:off x="6629400" y="2194560"/>
            <a:ext cx="548640" cy="548640"/>
          </a:xfrm>
          <a:prstGeom prst="roundRect">
            <a:avLst>
              <a:gd name="adj" fmla="val 50000"/>
            </a:avLst>
          </a:prstGeom>
          <a:solidFill>
            <a:srgbClr val="EF4444"/>
          </a:solidFill>
          <a:ln/>
        </p:spPr>
      </p:sp>
      <p:sp>
        <p:nvSpPr>
          <p:cNvPr id="17" name="Text 15"/>
          <p:cNvSpPr/>
          <p:nvPr/>
        </p:nvSpPr>
        <p:spPr>
          <a:xfrm>
            <a:off x="6629400" y="2194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6629400" y="2971800"/>
            <a:ext cx="2240280" cy="5943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Stockout Risk</a:t>
            </a:r>
            <a:endParaRPr lang="en-US" sz="1600" dirty="0"/>
          </a:p>
        </p:txBody>
      </p:sp>
      <p:sp>
        <p:nvSpPr>
          <p:cNvPr id="19" name="Text 17"/>
          <p:cNvSpPr/>
          <p:nvPr/>
        </p:nvSpPr>
        <p:spPr>
          <a:xfrm>
            <a:off x="6629400" y="3611880"/>
            <a:ext cx="2240280" cy="1737360"/>
          </a:xfrm>
          <a:prstGeom prst="rect">
            <a:avLst/>
          </a:prstGeom>
          <a:noFill/>
          <a:ln/>
        </p:spPr>
        <p:txBody>
          <a:bodyPr wrap="square" lIns="0" tIns="0" rIns="0" bIns="0" rtlCol="0" anchor="t"/>
          <a:lstStyle/>
          <a:p>
            <a:pPr indent="0" marL="0">
              <a:buNone/>
            </a:pPr>
            <a:r>
              <a:rPr lang="en-US" sz="1250" dirty="0">
                <a:solidFill>
                  <a:srgbClr val="52606D"/>
                </a:solidFill>
                <a:latin typeface="Calibri" pitchFamily="34" charset="0"/>
                <a:ea typeface="Calibri" pitchFamily="34" charset="-122"/>
                <a:cs typeface="Calibri" pitchFamily="34" charset="-120"/>
              </a:rPr>
              <a:t>Without timely monitoring, low-stock medicines may not be identified early enough.</a:t>
            </a:r>
            <a:endParaRPr lang="en-US" sz="1250" dirty="0"/>
          </a:p>
        </p:txBody>
      </p:sp>
      <p:sp>
        <p:nvSpPr>
          <p:cNvPr id="20" name="Shape 18"/>
          <p:cNvSpPr/>
          <p:nvPr/>
        </p:nvSpPr>
        <p:spPr>
          <a:xfrm>
            <a:off x="9326880" y="1920240"/>
            <a:ext cx="2697480" cy="3566160"/>
          </a:xfrm>
          <a:prstGeom prst="roundRect">
            <a:avLst>
              <a:gd name="adj" fmla="val 3051"/>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21" name="Shape 19"/>
          <p:cNvSpPr/>
          <p:nvPr/>
        </p:nvSpPr>
        <p:spPr>
          <a:xfrm>
            <a:off x="9555480" y="2194560"/>
            <a:ext cx="548640" cy="548640"/>
          </a:xfrm>
          <a:prstGeom prst="roundRect">
            <a:avLst>
              <a:gd name="adj" fmla="val 50000"/>
            </a:avLst>
          </a:prstGeom>
          <a:solidFill>
            <a:srgbClr val="EF4444"/>
          </a:solidFill>
          <a:ln/>
        </p:spPr>
      </p:sp>
      <p:sp>
        <p:nvSpPr>
          <p:cNvPr id="22" name="Text 20"/>
          <p:cNvSpPr/>
          <p:nvPr/>
        </p:nvSpPr>
        <p:spPr>
          <a:xfrm>
            <a:off x="9555480" y="2194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3" name="Text 21"/>
          <p:cNvSpPr/>
          <p:nvPr/>
        </p:nvSpPr>
        <p:spPr>
          <a:xfrm>
            <a:off x="9555480" y="2971800"/>
            <a:ext cx="2240280" cy="5943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Expiry Risk</a:t>
            </a:r>
            <a:endParaRPr lang="en-US" sz="1600" dirty="0"/>
          </a:p>
        </p:txBody>
      </p:sp>
      <p:sp>
        <p:nvSpPr>
          <p:cNvPr id="24" name="Text 22"/>
          <p:cNvSpPr/>
          <p:nvPr/>
        </p:nvSpPr>
        <p:spPr>
          <a:xfrm>
            <a:off x="9555480" y="3611880"/>
            <a:ext cx="2240280" cy="1737360"/>
          </a:xfrm>
          <a:prstGeom prst="rect">
            <a:avLst/>
          </a:prstGeom>
          <a:noFill/>
          <a:ln/>
        </p:spPr>
        <p:txBody>
          <a:bodyPr wrap="square" lIns="0" tIns="0" rIns="0" bIns="0" rtlCol="0" anchor="t"/>
          <a:lstStyle/>
          <a:p>
            <a:pPr indent="0" marL="0">
              <a:buNone/>
            </a:pPr>
            <a:r>
              <a:rPr lang="en-US" sz="1250" dirty="0">
                <a:solidFill>
                  <a:srgbClr val="52606D"/>
                </a:solidFill>
                <a:latin typeface="Calibri" pitchFamily="34" charset="0"/>
                <a:ea typeface="Calibri" pitchFamily="34" charset="-122"/>
                <a:cs typeface="Calibri" pitchFamily="34" charset="-120"/>
              </a:rPr>
              <a:t>Near-expiry batches can remain unnoticed, increasing the risk of avoidable inventory waste.</a:t>
            </a:r>
            <a:endParaRPr lang="en-US" sz="1250" dirty="0"/>
          </a:p>
        </p:txBody>
      </p:sp>
      <p:sp>
        <p:nvSpPr>
          <p:cNvPr id="25" name="Text 23"/>
          <p:cNvSpPr/>
          <p:nvPr/>
        </p:nvSpPr>
        <p:spPr>
          <a:xfrm>
            <a:off x="548640" y="5806440"/>
            <a:ext cx="11064240" cy="548640"/>
          </a:xfrm>
          <a:prstGeom prst="rect">
            <a:avLst/>
          </a:prstGeom>
          <a:noFill/>
          <a:ln/>
        </p:spPr>
        <p:txBody>
          <a:bodyPr wrap="square" rtlCol="0" anchor="ctr"/>
          <a:lstStyle/>
          <a:p>
            <a:pPr algn="ctr" indent="0" marL="0">
              <a:buNone/>
            </a:pPr>
            <a:r>
              <a:rPr lang="en-US" sz="1600" b="1" i="1" dirty="0">
                <a:solidFill>
                  <a:srgbClr val="0A2540"/>
                </a:solidFill>
                <a:latin typeface="Calibri" pitchFamily="34" charset="0"/>
                <a:ea typeface="Calibri" pitchFamily="34" charset="-122"/>
                <a:cs typeface="Calibri" pitchFamily="34" charset="-120"/>
              </a:rPr>
              <a:t>The core problem: limited centralized visibility into pharmaceutical inventory.</a:t>
            </a:r>
            <a:endParaRPr lang="en-US" sz="1600" dirty="0"/>
          </a:p>
        </p:txBody>
      </p:sp>
      <p:sp>
        <p:nvSpPr>
          <p:cNvPr id="27" name="Text 24"/>
          <p:cNvSpPr/>
          <p:nvPr/>
        </p:nvSpPr>
        <p:spPr>
          <a:xfrm>
            <a:off x="457200" y="6510528"/>
            <a:ext cx="8686800" cy="274320"/>
          </a:xfrm>
          <a:prstGeom prst="rect">
            <a:avLst/>
          </a:prstGeom>
          <a:noFill/>
          <a:ln/>
        </p:spPr>
        <p:txBody>
          <a:bodyPr wrap="square" rtlCol="0" anchor="ctr"/>
          <a:lstStyle/>
          <a:p>
            <a:pPr algn="l" indent="0" marL="0">
              <a:buNone/>
            </a:pPr>
            <a:r>
              <a:rPr lang="en-US" sz="900" dirty="0">
                <a:solidFill>
                  <a:srgbClr val="52606D"/>
                </a:solidFill>
                <a:latin typeface="Calibri" pitchFamily="34" charset="0"/>
                <a:ea typeface="Calibri" pitchFamily="34" charset="-122"/>
                <a:cs typeface="Calibri" pitchFamily="34" charset="-120"/>
              </a:rPr>
              <a:t>Medicine Stock Management &amp; Analytics Portal  |  Project Review – 2</a:t>
            </a:r>
            <a:endParaRPr lang="en-US" sz="900" dirty="0"/>
          </a:p>
        </p:txBody>
      </p:sp>
      <p:sp>
        <p:nvSpPr>
          <p:cNvPr id="28" name="Text 25"/>
          <p:cNvSpPr/>
          <p:nvPr/>
        </p:nvSpPr>
        <p:spPr>
          <a:xfrm>
            <a:off x="11277295" y="6510528"/>
            <a:ext cx="457200" cy="274320"/>
          </a:xfrm>
          <a:prstGeom prst="rect">
            <a:avLst/>
          </a:prstGeom>
          <a:noFill/>
          <a:ln/>
        </p:spPr>
        <p:txBody>
          <a:bodyPr wrap="square"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00B8A9"/>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Existing vs Proposed System</a:t>
            </a:r>
            <a:endParaRPr lang="en-US" sz="3200" dirty="0"/>
          </a:p>
        </p:txBody>
      </p:sp>
      <p:sp>
        <p:nvSpPr>
          <p:cNvPr id="4" name="Shape 2"/>
          <p:cNvSpPr/>
          <p:nvPr/>
        </p:nvSpPr>
        <p:spPr>
          <a:xfrm>
            <a:off x="548640" y="1783080"/>
            <a:ext cx="5029200" cy="4114800"/>
          </a:xfrm>
          <a:prstGeom prst="roundRect">
            <a:avLst>
              <a:gd name="adj" fmla="val 1778"/>
            </a:avLst>
          </a:prstGeom>
          <a:solidFill>
            <a:srgbClr val="EDF1F5"/>
          </a:solidFill>
          <a:ln w="12700">
            <a:solidFill>
              <a:srgbClr val="D9E2EC"/>
            </a:solidFill>
            <a:prstDash val="solid"/>
          </a:ln>
        </p:spPr>
      </p:sp>
      <p:sp>
        <p:nvSpPr>
          <p:cNvPr id="5" name="Text 3"/>
          <p:cNvSpPr/>
          <p:nvPr/>
        </p:nvSpPr>
        <p:spPr>
          <a:xfrm>
            <a:off x="822960" y="2011680"/>
            <a:ext cx="4480560" cy="365760"/>
          </a:xfrm>
          <a:prstGeom prst="rect">
            <a:avLst/>
          </a:prstGeom>
          <a:noFill/>
          <a:ln/>
        </p:spPr>
        <p:txBody>
          <a:bodyPr wrap="square" rtlCol="0" anchor="ctr"/>
          <a:lstStyle/>
          <a:p>
            <a:pPr indent="0" marL="0">
              <a:buNone/>
            </a:pPr>
            <a:r>
              <a:rPr lang="en-US" sz="1400" b="1" spc="100" kern="0" dirty="0">
                <a:solidFill>
                  <a:srgbClr val="52606D"/>
                </a:solidFill>
                <a:latin typeface="Calibri" pitchFamily="34" charset="0"/>
                <a:ea typeface="Calibri" pitchFamily="34" charset="-122"/>
                <a:cs typeface="Calibri" pitchFamily="34" charset="-120"/>
              </a:rPr>
              <a:t>EXISTING APPROACH</a:t>
            </a:r>
            <a:endParaRPr lang="en-US" sz="1400" dirty="0"/>
          </a:p>
        </p:txBody>
      </p:sp>
      <p:sp>
        <p:nvSpPr>
          <p:cNvPr id="6" name="Text 4"/>
          <p:cNvSpPr/>
          <p:nvPr/>
        </p:nvSpPr>
        <p:spPr>
          <a:xfrm>
            <a:off x="822960" y="2468880"/>
            <a:ext cx="4480560" cy="3200400"/>
          </a:xfrm>
          <a:prstGeom prst="rect">
            <a:avLst/>
          </a:prstGeom>
          <a:noFill/>
          <a:ln/>
        </p:spPr>
        <p:txBody>
          <a:bodyPr wrap="square" rtlCol="0" anchor="t"/>
          <a:lstStyle/>
          <a:p>
            <a:pPr marL="203200" indent="-203200">
              <a:spcAft>
                <a:spcPts val="800"/>
              </a:spcAft>
              <a:buSzPct val="100000"/>
              <a:buChar char="✗"/>
            </a:pPr>
            <a:r>
              <a:rPr lang="en-US" sz="1250" dirty="0">
                <a:solidFill>
                  <a:srgbClr val="EF4444"/>
                </a:solidFill>
                <a:latin typeface="Calibri" pitchFamily="34" charset="0"/>
                <a:ea typeface="Calibri" pitchFamily="34" charset="-122"/>
                <a:cs typeface="Calibri" pitchFamily="34" charset="-120"/>
              </a:rPr>
              <a:t>Manual / disconnected records</a:t>
            </a:r>
            <a:endParaRPr lang="en-US" sz="1250" dirty="0"/>
          </a:p>
          <a:p>
            <a:pPr marL="203200" indent="-203200">
              <a:spcAft>
                <a:spcPts val="800"/>
              </a:spcAft>
              <a:buSzPct val="100000"/>
              <a:buChar char="✗"/>
            </a:pPr>
            <a:r>
              <a:rPr lang="en-US" sz="1250" dirty="0">
                <a:solidFill>
                  <a:srgbClr val="EF4444"/>
                </a:solidFill>
                <a:latin typeface="Calibri" pitchFamily="34" charset="0"/>
                <a:ea typeface="Calibri" pitchFamily="34" charset="-122"/>
                <a:cs typeface="Calibri" pitchFamily="34" charset="-120"/>
              </a:rPr>
              <a:t>Difficult inventory reconciliation</a:t>
            </a:r>
            <a:endParaRPr lang="en-US" sz="1250" dirty="0"/>
          </a:p>
          <a:p>
            <a:pPr marL="203200" indent="-203200">
              <a:spcAft>
                <a:spcPts val="800"/>
              </a:spcAft>
              <a:buSzPct val="100000"/>
              <a:buChar char="✗"/>
            </a:pPr>
            <a:r>
              <a:rPr lang="en-US" sz="1250" dirty="0">
                <a:solidFill>
                  <a:srgbClr val="EF4444"/>
                </a:solidFill>
                <a:latin typeface="Calibri" pitchFamily="34" charset="0"/>
                <a:ea typeface="Calibri" pitchFamily="34" charset="-122"/>
                <a:cs typeface="Calibri" pitchFamily="34" charset="-120"/>
              </a:rPr>
              <a:t>Limited batch-level visibility</a:t>
            </a:r>
            <a:endParaRPr lang="en-US" sz="1250" dirty="0"/>
          </a:p>
          <a:p>
            <a:pPr marL="203200" indent="-203200">
              <a:spcAft>
                <a:spcPts val="800"/>
              </a:spcAft>
              <a:buSzPct val="100000"/>
              <a:buChar char="✗"/>
            </a:pPr>
            <a:r>
              <a:rPr lang="en-US" sz="1250" dirty="0">
                <a:solidFill>
                  <a:srgbClr val="EF4444"/>
                </a:solidFill>
                <a:latin typeface="Calibri" pitchFamily="34" charset="0"/>
                <a:ea typeface="Calibri" pitchFamily="34" charset="-122"/>
                <a:cs typeface="Calibri" pitchFamily="34" charset="-120"/>
              </a:rPr>
              <a:t>Delayed identification of low stock</a:t>
            </a:r>
            <a:endParaRPr lang="en-US" sz="1250" dirty="0"/>
          </a:p>
          <a:p>
            <a:pPr marL="203200" indent="-203200">
              <a:spcAft>
                <a:spcPts val="800"/>
              </a:spcAft>
              <a:buSzPct val="100000"/>
              <a:buChar char="✗"/>
            </a:pPr>
            <a:r>
              <a:rPr lang="en-US" sz="1250" dirty="0">
                <a:solidFill>
                  <a:srgbClr val="EF4444"/>
                </a:solidFill>
                <a:latin typeface="Calibri" pitchFamily="34" charset="0"/>
                <a:ea typeface="Calibri" pitchFamily="34" charset="-122"/>
                <a:cs typeface="Calibri" pitchFamily="34" charset="-120"/>
              </a:rPr>
              <a:t>Inconsistent expiry monitoring</a:t>
            </a:r>
            <a:endParaRPr lang="en-US" sz="1250" dirty="0"/>
          </a:p>
          <a:p>
            <a:pPr marL="203200" indent="-203200">
              <a:spcAft>
                <a:spcPts val="800"/>
              </a:spcAft>
              <a:buSzPct val="100000"/>
              <a:buChar char="✗"/>
            </a:pPr>
            <a:r>
              <a:rPr lang="en-US" sz="1250" dirty="0">
                <a:solidFill>
                  <a:srgbClr val="EF4444"/>
                </a:solidFill>
                <a:latin typeface="Calibri" pitchFamily="34" charset="0"/>
                <a:ea typeface="Calibri" pitchFamily="34" charset="-122"/>
                <a:cs typeface="Calibri" pitchFamily="34" charset="-120"/>
              </a:rPr>
              <a:t>Limited centralized analytics</a:t>
            </a:r>
            <a:endParaRPr lang="en-US" sz="1250" dirty="0"/>
          </a:p>
          <a:p>
            <a:pPr marL="203200" indent="-203200">
              <a:spcAft>
                <a:spcPts val="800"/>
              </a:spcAft>
              <a:buSzPct val="100000"/>
              <a:buChar char="✗"/>
            </a:pPr>
            <a:r>
              <a:rPr lang="en-US" sz="1250" dirty="0">
                <a:solidFill>
                  <a:srgbClr val="EF4444"/>
                </a:solidFill>
                <a:latin typeface="Calibri" pitchFamily="34" charset="0"/>
                <a:ea typeface="Calibri" pitchFamily="34" charset="-122"/>
                <a:cs typeface="Calibri" pitchFamily="34" charset="-120"/>
              </a:rPr>
              <a:t>Higher dependency on manual updates</a:t>
            </a:r>
            <a:endParaRPr lang="en-US" sz="1250" dirty="0"/>
          </a:p>
        </p:txBody>
      </p:sp>
      <p:sp>
        <p:nvSpPr>
          <p:cNvPr id="7" name="Shape 5"/>
          <p:cNvSpPr/>
          <p:nvPr/>
        </p:nvSpPr>
        <p:spPr>
          <a:xfrm>
            <a:off x="6583680" y="1783080"/>
            <a:ext cx="5029200" cy="4114800"/>
          </a:xfrm>
          <a:prstGeom prst="roundRect">
            <a:avLst>
              <a:gd name="adj" fmla="val 1778"/>
            </a:avLst>
          </a:prstGeom>
          <a:solidFill>
            <a:srgbClr val="0A2540"/>
          </a:solidFill>
          <a:ln/>
        </p:spPr>
      </p:sp>
      <p:sp>
        <p:nvSpPr>
          <p:cNvPr id="8" name="Text 6"/>
          <p:cNvSpPr/>
          <p:nvPr/>
        </p:nvSpPr>
        <p:spPr>
          <a:xfrm>
            <a:off x="6858000" y="2011680"/>
            <a:ext cx="4480560" cy="365760"/>
          </a:xfrm>
          <a:prstGeom prst="rect">
            <a:avLst/>
          </a:prstGeom>
          <a:noFill/>
          <a:ln/>
        </p:spPr>
        <p:txBody>
          <a:bodyPr wrap="square" rtlCol="0" anchor="ctr"/>
          <a:lstStyle/>
          <a:p>
            <a:pPr indent="0" marL="0">
              <a:buNone/>
            </a:pPr>
            <a:r>
              <a:rPr lang="en-US" sz="1400" b="1" spc="100" kern="0" dirty="0">
                <a:solidFill>
                  <a:srgbClr val="00D4FF"/>
                </a:solidFill>
                <a:latin typeface="Calibri" pitchFamily="34" charset="0"/>
                <a:ea typeface="Calibri" pitchFamily="34" charset="-122"/>
                <a:cs typeface="Calibri" pitchFamily="34" charset="-120"/>
              </a:rPr>
              <a:t>PROPOSED PORTAL</a:t>
            </a:r>
            <a:endParaRPr lang="en-US" sz="1400" dirty="0"/>
          </a:p>
        </p:txBody>
      </p:sp>
      <p:sp>
        <p:nvSpPr>
          <p:cNvPr id="9" name="Text 7"/>
          <p:cNvSpPr/>
          <p:nvPr/>
        </p:nvSpPr>
        <p:spPr>
          <a:xfrm>
            <a:off x="6858000" y="2468880"/>
            <a:ext cx="4480560" cy="3200400"/>
          </a:xfrm>
          <a:prstGeom prst="rect">
            <a:avLst/>
          </a:prstGeom>
          <a:noFill/>
          <a:ln/>
        </p:spPr>
        <p:txBody>
          <a:bodyPr wrap="square" rtlCol="0" anchor="t"/>
          <a:lstStyle/>
          <a:p>
            <a:pPr marL="203200" indent="-203200">
              <a:spcAft>
                <a:spcPts val="700"/>
              </a:spcAft>
              <a:buSzPct val="100000"/>
              <a:buChar char="✓"/>
            </a:pPr>
            <a:r>
              <a:rPr lang="en-US" sz="1250" dirty="0">
                <a:solidFill>
                  <a:srgbClr val="00B8A9"/>
                </a:solidFill>
                <a:latin typeface="Calibri" pitchFamily="34" charset="0"/>
                <a:ea typeface="Calibri" pitchFamily="34" charset="-122"/>
                <a:cs typeface="Calibri" pitchFamily="34" charset="-120"/>
              </a:rPr>
              <a:t>Centralized medicine inventory</a:t>
            </a:r>
            <a:endParaRPr lang="en-US" sz="1250" dirty="0"/>
          </a:p>
          <a:p>
            <a:pPr marL="203200" indent="-203200">
              <a:spcAft>
                <a:spcPts val="700"/>
              </a:spcAft>
              <a:buSzPct val="100000"/>
              <a:buChar char="✓"/>
            </a:pPr>
            <a:r>
              <a:rPr lang="en-US" sz="1250" dirty="0">
                <a:solidFill>
                  <a:srgbClr val="00B8A9"/>
                </a:solidFill>
                <a:latin typeface="Calibri" pitchFamily="34" charset="0"/>
                <a:ea typeface="Calibri" pitchFamily="34" charset="-122"/>
                <a:cs typeface="Calibri" pitchFamily="34" charset="-120"/>
              </a:rPr>
              <a:t>Structured MongoDB data model</a:t>
            </a:r>
            <a:endParaRPr lang="en-US" sz="1250" dirty="0"/>
          </a:p>
          <a:p>
            <a:pPr marL="203200" indent="-203200">
              <a:spcAft>
                <a:spcPts val="700"/>
              </a:spcAft>
              <a:buSzPct val="100000"/>
              <a:buChar char="✓"/>
            </a:pPr>
            <a:r>
              <a:rPr lang="en-US" sz="1250" dirty="0">
                <a:solidFill>
                  <a:srgbClr val="00B8A9"/>
                </a:solidFill>
                <a:latin typeface="Calibri" pitchFamily="34" charset="0"/>
                <a:ea typeface="Calibri" pitchFamily="34" charset="-122"/>
                <a:cs typeface="Calibri" pitchFamily="34" charset="-120"/>
              </a:rPr>
              <a:t>Batch-wise stock tracking</a:t>
            </a:r>
            <a:endParaRPr lang="en-US" sz="1250" dirty="0"/>
          </a:p>
          <a:p>
            <a:pPr marL="203200" indent="-203200">
              <a:spcAft>
                <a:spcPts val="700"/>
              </a:spcAft>
              <a:buSzPct val="100000"/>
              <a:buChar char="✓"/>
            </a:pPr>
            <a:r>
              <a:rPr lang="en-US" sz="1250" dirty="0">
                <a:solidFill>
                  <a:srgbClr val="00B8A9"/>
                </a:solidFill>
                <a:latin typeface="Calibri" pitchFamily="34" charset="0"/>
                <a:ea typeface="Calibri" pitchFamily="34" charset="-122"/>
                <a:cs typeface="Calibri" pitchFamily="34" charset="-120"/>
              </a:rPr>
              <a:t>Automated low-stock identification</a:t>
            </a:r>
            <a:endParaRPr lang="en-US" sz="1250" dirty="0"/>
          </a:p>
          <a:p>
            <a:pPr marL="203200" indent="-203200">
              <a:spcAft>
                <a:spcPts val="700"/>
              </a:spcAft>
              <a:buSzPct val="100000"/>
              <a:buChar char="✓"/>
            </a:pPr>
            <a:r>
              <a:rPr lang="en-US" sz="1250" dirty="0">
                <a:solidFill>
                  <a:srgbClr val="00B8A9"/>
                </a:solidFill>
                <a:latin typeface="Calibri" pitchFamily="34" charset="0"/>
                <a:ea typeface="Calibri" pitchFamily="34" charset="-122"/>
                <a:cs typeface="Calibri" pitchFamily="34" charset="-120"/>
              </a:rPr>
              <a:t>Near-expiry monitoring</a:t>
            </a:r>
            <a:endParaRPr lang="en-US" sz="1250" dirty="0"/>
          </a:p>
          <a:p>
            <a:pPr marL="203200" indent="-203200">
              <a:spcAft>
                <a:spcPts val="700"/>
              </a:spcAft>
              <a:buSzPct val="100000"/>
              <a:buChar char="✓"/>
            </a:pPr>
            <a:r>
              <a:rPr lang="en-US" sz="1250" dirty="0">
                <a:solidFill>
                  <a:srgbClr val="00B8A9"/>
                </a:solidFill>
                <a:latin typeface="Calibri" pitchFamily="34" charset="0"/>
                <a:ea typeface="Calibri" pitchFamily="34" charset="-122"/>
                <a:cs typeface="Calibri" pitchFamily="34" charset="-120"/>
              </a:rPr>
              <a:t>Role-based access</a:t>
            </a:r>
            <a:endParaRPr lang="en-US" sz="1250" dirty="0"/>
          </a:p>
          <a:p>
            <a:pPr marL="203200" indent="-203200">
              <a:spcAft>
                <a:spcPts val="700"/>
              </a:spcAft>
              <a:buSzPct val="100000"/>
              <a:buChar char="✓"/>
            </a:pPr>
            <a:r>
              <a:rPr lang="en-US" sz="1250" dirty="0">
                <a:solidFill>
                  <a:srgbClr val="00B8A9"/>
                </a:solidFill>
                <a:latin typeface="Calibri" pitchFamily="34" charset="0"/>
                <a:ea typeface="Calibri" pitchFamily="34" charset="-122"/>
                <a:cs typeface="Calibri" pitchFamily="34" charset="-120"/>
              </a:rPr>
              <a:t>Visual analytics dashboard</a:t>
            </a:r>
            <a:endParaRPr lang="en-US" sz="1250" dirty="0"/>
          </a:p>
          <a:p>
            <a:pPr marL="203200" indent="-203200">
              <a:spcAft>
                <a:spcPts val="700"/>
              </a:spcAft>
              <a:buSzPct val="100000"/>
              <a:buChar char="✓"/>
            </a:pPr>
            <a:r>
              <a:rPr lang="en-US" sz="1250" dirty="0">
                <a:solidFill>
                  <a:srgbClr val="00B8A9"/>
                </a:solidFill>
                <a:latin typeface="Calibri" pitchFamily="34" charset="0"/>
                <a:ea typeface="Calibri" pitchFamily="34" charset="-122"/>
                <a:cs typeface="Calibri" pitchFamily="34" charset="-120"/>
              </a:rPr>
              <a:t>RESTful API-driven architecture</a:t>
            </a:r>
            <a:endParaRPr lang="en-US" sz="1250" dirty="0"/>
          </a:p>
        </p:txBody>
      </p:sp>
      <p:sp>
        <p:nvSpPr>
          <p:cNvPr id="10" name="Shape 8"/>
          <p:cNvSpPr/>
          <p:nvPr/>
        </p:nvSpPr>
        <p:spPr>
          <a:xfrm>
            <a:off x="5532120" y="3429000"/>
            <a:ext cx="822960" cy="822960"/>
          </a:xfrm>
          <a:prstGeom prst="ellipse">
            <a:avLst/>
          </a:prstGeom>
          <a:solidFill>
            <a:srgbClr val="00B8A9"/>
          </a:solidFill>
          <a:ln w="38100">
            <a:solidFill>
              <a:srgbClr val="FFFFFF"/>
            </a:solidFill>
            <a:prstDash val="solid"/>
          </a:ln>
        </p:spPr>
      </p:sp>
      <p:sp>
        <p:nvSpPr>
          <p:cNvPr id="11" name="Text 9"/>
          <p:cNvSpPr/>
          <p:nvPr/>
        </p:nvSpPr>
        <p:spPr>
          <a:xfrm>
            <a:off x="5532120" y="34290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5074920" y="4297680"/>
            <a:ext cx="1737360" cy="274320"/>
          </a:xfrm>
          <a:prstGeom prst="rect">
            <a:avLst/>
          </a:prstGeom>
          <a:noFill/>
          <a:ln/>
        </p:spPr>
        <p:txBody>
          <a:bodyPr wrap="square" rtlCol="0" anchor="ctr"/>
          <a:lstStyle/>
          <a:p>
            <a:pPr algn="ctr" indent="0" marL="0">
              <a:buNone/>
            </a:pPr>
            <a:r>
              <a:rPr lang="en-US" sz="1000" b="1" spc="100" kern="0" dirty="0">
                <a:solidFill>
                  <a:srgbClr val="00B8A9"/>
                </a:solidFill>
                <a:latin typeface="Calibri" pitchFamily="34" charset="0"/>
                <a:ea typeface="Calibri" pitchFamily="34" charset="-122"/>
                <a:cs typeface="Calibri" pitchFamily="34" charset="-120"/>
              </a:rPr>
              <a:t>TRANSFORM</a:t>
            </a:r>
            <a:endParaRPr lang="en-US" sz="1000" dirty="0"/>
          </a:p>
        </p:txBody>
      </p:sp>
      <p:sp>
        <p:nvSpPr>
          <p:cNvPr id="13" name="Text 11"/>
          <p:cNvSpPr/>
          <p:nvPr/>
        </p:nvSpPr>
        <p:spPr>
          <a:xfrm>
            <a:off x="548640" y="6035040"/>
            <a:ext cx="11064240" cy="365760"/>
          </a:xfrm>
          <a:prstGeom prst="rect">
            <a:avLst/>
          </a:prstGeom>
          <a:noFill/>
          <a:ln/>
        </p:spPr>
        <p:txBody>
          <a:bodyPr wrap="square" rtlCol="0" anchor="ctr"/>
          <a:lstStyle/>
          <a:p>
            <a:pPr algn="ctr" indent="0" marL="0">
              <a:buNone/>
            </a:pPr>
            <a:r>
              <a:rPr lang="en-US" sz="1500" b="1" i="1" dirty="0">
                <a:solidFill>
                  <a:srgbClr val="0A2540"/>
                </a:solidFill>
                <a:latin typeface="Calibri" pitchFamily="34" charset="0"/>
                <a:ea typeface="Calibri" pitchFamily="34" charset="-122"/>
                <a:cs typeface="Calibri" pitchFamily="34" charset="-120"/>
              </a:rPr>
              <a:t>From fragmented records → to centralized inventory intelligence</a:t>
            </a:r>
            <a:endParaRPr lang="en-US" sz="1500" dirty="0"/>
          </a:p>
        </p:txBody>
      </p:sp>
      <p:sp>
        <p:nvSpPr>
          <p:cNvPr id="15" name="Text 12"/>
          <p:cNvSpPr/>
          <p:nvPr/>
        </p:nvSpPr>
        <p:spPr>
          <a:xfrm>
            <a:off x="457200" y="6510528"/>
            <a:ext cx="8686800" cy="274320"/>
          </a:xfrm>
          <a:prstGeom prst="rect">
            <a:avLst/>
          </a:prstGeom>
          <a:noFill/>
          <a:ln/>
        </p:spPr>
        <p:txBody>
          <a:bodyPr wrap="square" rtlCol="0" anchor="ctr"/>
          <a:lstStyle/>
          <a:p>
            <a:pPr algn="l" indent="0" marL="0">
              <a:buNone/>
            </a:pPr>
            <a:r>
              <a:rPr lang="en-US" sz="900" dirty="0">
                <a:solidFill>
                  <a:srgbClr val="52606D"/>
                </a:solidFill>
                <a:latin typeface="Calibri" pitchFamily="34" charset="0"/>
                <a:ea typeface="Calibri" pitchFamily="34" charset="-122"/>
                <a:cs typeface="Calibri" pitchFamily="34" charset="-120"/>
              </a:rPr>
              <a:t>Medicine Stock Management &amp; Analytics Portal  |  Project Review – 2</a:t>
            </a:r>
            <a:endParaRPr lang="en-US" sz="900" dirty="0"/>
          </a:p>
        </p:txBody>
      </p:sp>
      <p:sp>
        <p:nvSpPr>
          <p:cNvPr id="16" name="Text 13"/>
          <p:cNvSpPr/>
          <p:nvPr/>
        </p:nvSpPr>
        <p:spPr>
          <a:xfrm>
            <a:off x="11277295" y="6510528"/>
            <a:ext cx="457200" cy="274320"/>
          </a:xfrm>
          <a:prstGeom prst="rect">
            <a:avLst/>
          </a:prstGeom>
          <a:noFill/>
          <a:ln/>
        </p:spPr>
        <p:txBody>
          <a:bodyPr wrap="square"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00B8A9"/>
                </a:solidFill>
                <a:latin typeface="Calibri" pitchFamily="34" charset="0"/>
                <a:ea typeface="Calibri" pitchFamily="34" charset="-122"/>
                <a:cs typeface="Calibri" pitchFamily="34" charset="-120"/>
              </a:rPr>
              <a:t>CORE CAPABILITIES</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Proposed System</a:t>
            </a:r>
            <a:endParaRPr lang="en-US" sz="3200" dirty="0"/>
          </a:p>
        </p:txBody>
      </p:sp>
      <p:sp>
        <p:nvSpPr>
          <p:cNvPr id="4" name="Text 2"/>
          <p:cNvSpPr/>
          <p:nvPr/>
        </p:nvSpPr>
        <p:spPr>
          <a:xfrm>
            <a:off x="548640" y="1261872"/>
            <a:ext cx="10515600" cy="365760"/>
          </a:xfrm>
          <a:prstGeom prst="rect">
            <a:avLst/>
          </a:prstGeom>
          <a:noFill/>
          <a:ln/>
        </p:spPr>
        <p:txBody>
          <a:bodyPr wrap="square" rtlCol="0" anchor="ctr"/>
          <a:lstStyle/>
          <a:p>
            <a:pPr indent="0" marL="0">
              <a:buNone/>
            </a:pPr>
            <a:r>
              <a:rPr lang="en-US" sz="1500" i="1" dirty="0">
                <a:solidFill>
                  <a:srgbClr val="52606D"/>
                </a:solidFill>
                <a:latin typeface="Calibri" pitchFamily="34" charset="0"/>
                <a:ea typeface="Calibri" pitchFamily="34" charset="-122"/>
                <a:cs typeface="Calibri" pitchFamily="34" charset="-120"/>
              </a:rPr>
              <a:t>A centralized platform for inventory control and analytics</a:t>
            </a:r>
            <a:endParaRPr lang="en-US" sz="1500" dirty="0"/>
          </a:p>
        </p:txBody>
      </p:sp>
      <p:sp>
        <p:nvSpPr>
          <p:cNvPr id="5" name="Shape 3"/>
          <p:cNvSpPr/>
          <p:nvPr/>
        </p:nvSpPr>
        <p:spPr>
          <a:xfrm>
            <a:off x="548640" y="1874520"/>
            <a:ext cx="3520440" cy="1874520"/>
          </a:xfrm>
          <a:prstGeom prst="roundRect">
            <a:avLst>
              <a:gd name="adj" fmla="val 4390"/>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6" name="Text 4"/>
          <p:cNvSpPr/>
          <p:nvPr/>
        </p:nvSpPr>
        <p:spPr>
          <a:xfrm>
            <a:off x="731520" y="2011680"/>
            <a:ext cx="822960" cy="457200"/>
          </a:xfrm>
          <a:prstGeom prst="rect">
            <a:avLst/>
          </a:prstGeom>
          <a:noFill/>
          <a:ln/>
        </p:spPr>
        <p:txBody>
          <a:bodyPr wrap="square" rtlCol="0" anchor="ctr"/>
          <a:lstStyle/>
          <a:p>
            <a:pPr indent="0" marL="0">
              <a:buNone/>
            </a:pPr>
            <a:r>
              <a:rPr lang="en-US" sz="2200" b="1" dirty="0">
                <a:solidFill>
                  <a:srgbClr val="C9D7E5"/>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731520" y="2496312"/>
            <a:ext cx="315468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Medicine Management</a:t>
            </a:r>
            <a:endParaRPr lang="en-US" sz="1450" dirty="0"/>
          </a:p>
        </p:txBody>
      </p:sp>
      <p:sp>
        <p:nvSpPr>
          <p:cNvPr id="8" name="Text 6"/>
          <p:cNvSpPr/>
          <p:nvPr/>
        </p:nvSpPr>
        <p:spPr>
          <a:xfrm>
            <a:off x="731520" y="2898648"/>
            <a:ext cx="3154680" cy="777240"/>
          </a:xfrm>
          <a:prstGeom prst="rect">
            <a:avLst/>
          </a:prstGeom>
          <a:noFill/>
          <a:ln/>
        </p:spPr>
        <p:txBody>
          <a:bodyPr wrap="square" rtlCol="0" anchor="t"/>
          <a:lstStyle/>
          <a:p>
            <a:pPr indent="0" marL="0">
              <a:buNone/>
            </a:pPr>
            <a:r>
              <a:rPr lang="en-US" sz="1150" dirty="0">
                <a:solidFill>
                  <a:srgbClr val="52606D"/>
                </a:solidFill>
                <a:latin typeface="Calibri" pitchFamily="34" charset="0"/>
                <a:ea typeface="Calibri" pitchFamily="34" charset="-122"/>
                <a:cs typeface="Calibri" pitchFamily="34" charset="-120"/>
              </a:rPr>
              <a:t>Maintain medicine details, categories, pricing and reorder levels.</a:t>
            </a:r>
            <a:endParaRPr lang="en-US" sz="1150" dirty="0"/>
          </a:p>
        </p:txBody>
      </p:sp>
      <p:sp>
        <p:nvSpPr>
          <p:cNvPr id="9" name="Shape 7"/>
          <p:cNvSpPr/>
          <p:nvPr/>
        </p:nvSpPr>
        <p:spPr>
          <a:xfrm>
            <a:off x="3566160" y="2039112"/>
            <a:ext cx="347472" cy="347472"/>
          </a:xfrm>
          <a:prstGeom prst="ellipse">
            <a:avLst/>
          </a:prstGeom>
          <a:solidFill>
            <a:srgbClr val="00B8A9"/>
          </a:solidFill>
          <a:ln/>
        </p:spPr>
      </p:sp>
      <p:sp>
        <p:nvSpPr>
          <p:cNvPr id="10" name="Text 8"/>
          <p:cNvSpPr/>
          <p:nvPr/>
        </p:nvSpPr>
        <p:spPr>
          <a:xfrm>
            <a:off x="3566160" y="203911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MD</a:t>
            </a:r>
            <a:endParaRPr lang="en-US" sz="900" dirty="0"/>
          </a:p>
        </p:txBody>
      </p:sp>
      <p:sp>
        <p:nvSpPr>
          <p:cNvPr id="11" name="Shape 9"/>
          <p:cNvSpPr/>
          <p:nvPr/>
        </p:nvSpPr>
        <p:spPr>
          <a:xfrm>
            <a:off x="4297680" y="1874520"/>
            <a:ext cx="3520440" cy="1874520"/>
          </a:xfrm>
          <a:prstGeom prst="roundRect">
            <a:avLst>
              <a:gd name="adj" fmla="val 4390"/>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12" name="Text 10"/>
          <p:cNvSpPr/>
          <p:nvPr/>
        </p:nvSpPr>
        <p:spPr>
          <a:xfrm>
            <a:off x="4480560" y="2011680"/>
            <a:ext cx="822960" cy="457200"/>
          </a:xfrm>
          <a:prstGeom prst="rect">
            <a:avLst/>
          </a:prstGeom>
          <a:noFill/>
          <a:ln/>
        </p:spPr>
        <p:txBody>
          <a:bodyPr wrap="square" rtlCol="0" anchor="ctr"/>
          <a:lstStyle/>
          <a:p>
            <a:pPr indent="0" marL="0">
              <a:buNone/>
            </a:pPr>
            <a:r>
              <a:rPr lang="en-US" sz="2200" b="1" dirty="0">
                <a:solidFill>
                  <a:srgbClr val="C9D7E5"/>
                </a:solidFill>
                <a:latin typeface="Cambria" pitchFamily="34" charset="0"/>
                <a:ea typeface="Cambria" pitchFamily="34" charset="-122"/>
                <a:cs typeface="Cambria" pitchFamily="34" charset="-120"/>
              </a:rPr>
              <a:t>02</a:t>
            </a:r>
            <a:endParaRPr lang="en-US" sz="2200" dirty="0"/>
          </a:p>
        </p:txBody>
      </p:sp>
      <p:sp>
        <p:nvSpPr>
          <p:cNvPr id="13" name="Text 11"/>
          <p:cNvSpPr/>
          <p:nvPr/>
        </p:nvSpPr>
        <p:spPr>
          <a:xfrm>
            <a:off x="4480560" y="2496312"/>
            <a:ext cx="315468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Supplier Management</a:t>
            </a:r>
            <a:endParaRPr lang="en-US" sz="1450" dirty="0"/>
          </a:p>
        </p:txBody>
      </p:sp>
      <p:sp>
        <p:nvSpPr>
          <p:cNvPr id="14" name="Text 12"/>
          <p:cNvSpPr/>
          <p:nvPr/>
        </p:nvSpPr>
        <p:spPr>
          <a:xfrm>
            <a:off x="4480560" y="2898648"/>
            <a:ext cx="3154680" cy="777240"/>
          </a:xfrm>
          <a:prstGeom prst="rect">
            <a:avLst/>
          </a:prstGeom>
          <a:noFill/>
          <a:ln/>
        </p:spPr>
        <p:txBody>
          <a:bodyPr wrap="square" rtlCol="0" anchor="t"/>
          <a:lstStyle/>
          <a:p>
            <a:pPr indent="0" marL="0">
              <a:buNone/>
            </a:pPr>
            <a:r>
              <a:rPr lang="en-US" sz="1150" dirty="0">
                <a:solidFill>
                  <a:srgbClr val="52606D"/>
                </a:solidFill>
                <a:latin typeface="Calibri" pitchFamily="34" charset="0"/>
                <a:ea typeface="Calibri" pitchFamily="34" charset="-122"/>
                <a:cs typeface="Calibri" pitchFamily="34" charset="-120"/>
              </a:rPr>
              <a:t>Maintain supplier information and procurement relationships.</a:t>
            </a:r>
            <a:endParaRPr lang="en-US" sz="1150" dirty="0"/>
          </a:p>
        </p:txBody>
      </p:sp>
      <p:sp>
        <p:nvSpPr>
          <p:cNvPr id="15" name="Shape 13"/>
          <p:cNvSpPr/>
          <p:nvPr/>
        </p:nvSpPr>
        <p:spPr>
          <a:xfrm>
            <a:off x="7315200" y="2039112"/>
            <a:ext cx="347472" cy="347472"/>
          </a:xfrm>
          <a:prstGeom prst="ellipse">
            <a:avLst/>
          </a:prstGeom>
          <a:solidFill>
            <a:srgbClr val="00B8A9"/>
          </a:solidFill>
          <a:ln/>
        </p:spPr>
      </p:sp>
      <p:sp>
        <p:nvSpPr>
          <p:cNvPr id="16" name="Text 14"/>
          <p:cNvSpPr/>
          <p:nvPr/>
        </p:nvSpPr>
        <p:spPr>
          <a:xfrm>
            <a:off x="7315200" y="203911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a:t>
            </a:r>
            <a:endParaRPr lang="en-US" sz="900" dirty="0"/>
          </a:p>
        </p:txBody>
      </p:sp>
      <p:sp>
        <p:nvSpPr>
          <p:cNvPr id="17" name="Shape 15"/>
          <p:cNvSpPr/>
          <p:nvPr/>
        </p:nvSpPr>
        <p:spPr>
          <a:xfrm>
            <a:off x="8046720" y="1874520"/>
            <a:ext cx="3520440" cy="1874520"/>
          </a:xfrm>
          <a:prstGeom prst="roundRect">
            <a:avLst>
              <a:gd name="adj" fmla="val 4390"/>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18" name="Text 16"/>
          <p:cNvSpPr/>
          <p:nvPr/>
        </p:nvSpPr>
        <p:spPr>
          <a:xfrm>
            <a:off x="8229600" y="2011680"/>
            <a:ext cx="822960" cy="457200"/>
          </a:xfrm>
          <a:prstGeom prst="rect">
            <a:avLst/>
          </a:prstGeom>
          <a:noFill/>
          <a:ln/>
        </p:spPr>
        <p:txBody>
          <a:bodyPr wrap="square" rtlCol="0" anchor="ctr"/>
          <a:lstStyle/>
          <a:p>
            <a:pPr indent="0" marL="0">
              <a:buNone/>
            </a:pPr>
            <a:r>
              <a:rPr lang="en-US" sz="2200" b="1" dirty="0">
                <a:solidFill>
                  <a:srgbClr val="C9D7E5"/>
                </a:solidFill>
                <a:latin typeface="Cambria" pitchFamily="34" charset="0"/>
                <a:ea typeface="Cambria" pitchFamily="34" charset="-122"/>
                <a:cs typeface="Cambria" pitchFamily="34" charset="-120"/>
              </a:rPr>
              <a:t>03</a:t>
            </a:r>
            <a:endParaRPr lang="en-US" sz="2200" dirty="0"/>
          </a:p>
        </p:txBody>
      </p:sp>
      <p:sp>
        <p:nvSpPr>
          <p:cNvPr id="19" name="Text 17"/>
          <p:cNvSpPr/>
          <p:nvPr/>
        </p:nvSpPr>
        <p:spPr>
          <a:xfrm>
            <a:off x="8229600" y="2496312"/>
            <a:ext cx="315468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Batch-wise Stock</a:t>
            </a:r>
            <a:endParaRPr lang="en-US" sz="1450" dirty="0"/>
          </a:p>
        </p:txBody>
      </p:sp>
      <p:sp>
        <p:nvSpPr>
          <p:cNvPr id="20" name="Text 18"/>
          <p:cNvSpPr/>
          <p:nvPr/>
        </p:nvSpPr>
        <p:spPr>
          <a:xfrm>
            <a:off x="8229600" y="2898648"/>
            <a:ext cx="3154680" cy="777240"/>
          </a:xfrm>
          <a:prstGeom prst="rect">
            <a:avLst/>
          </a:prstGeom>
          <a:noFill/>
          <a:ln/>
        </p:spPr>
        <p:txBody>
          <a:bodyPr wrap="square" rtlCol="0" anchor="t"/>
          <a:lstStyle/>
          <a:p>
            <a:pPr indent="0" marL="0">
              <a:buNone/>
            </a:pPr>
            <a:r>
              <a:rPr lang="en-US" sz="1150" dirty="0">
                <a:solidFill>
                  <a:srgbClr val="52606D"/>
                </a:solidFill>
                <a:latin typeface="Calibri" pitchFamily="34" charset="0"/>
                <a:ea typeface="Calibri" pitchFamily="34" charset="-122"/>
                <a:cs typeface="Calibri" pitchFamily="34" charset="-120"/>
              </a:rPr>
              <a:t>Track batch quantities, manufacture dates and expiry dates.</a:t>
            </a:r>
            <a:endParaRPr lang="en-US" sz="1150" dirty="0"/>
          </a:p>
        </p:txBody>
      </p:sp>
      <p:sp>
        <p:nvSpPr>
          <p:cNvPr id="21" name="Shape 19"/>
          <p:cNvSpPr/>
          <p:nvPr/>
        </p:nvSpPr>
        <p:spPr>
          <a:xfrm>
            <a:off x="11064240" y="2039112"/>
            <a:ext cx="347472" cy="347472"/>
          </a:xfrm>
          <a:prstGeom prst="ellipse">
            <a:avLst/>
          </a:prstGeom>
          <a:solidFill>
            <a:srgbClr val="00B8A9"/>
          </a:solidFill>
          <a:ln/>
        </p:spPr>
      </p:sp>
      <p:sp>
        <p:nvSpPr>
          <p:cNvPr id="22" name="Text 20"/>
          <p:cNvSpPr/>
          <p:nvPr/>
        </p:nvSpPr>
        <p:spPr>
          <a:xfrm>
            <a:off x="11064240" y="203911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BT</a:t>
            </a:r>
            <a:endParaRPr lang="en-US" sz="900" dirty="0"/>
          </a:p>
        </p:txBody>
      </p:sp>
      <p:sp>
        <p:nvSpPr>
          <p:cNvPr id="23" name="Shape 21"/>
          <p:cNvSpPr/>
          <p:nvPr/>
        </p:nvSpPr>
        <p:spPr>
          <a:xfrm>
            <a:off x="548640" y="4023360"/>
            <a:ext cx="3520440" cy="1874520"/>
          </a:xfrm>
          <a:prstGeom prst="roundRect">
            <a:avLst>
              <a:gd name="adj" fmla="val 4390"/>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24" name="Text 22"/>
          <p:cNvSpPr/>
          <p:nvPr/>
        </p:nvSpPr>
        <p:spPr>
          <a:xfrm>
            <a:off x="731520" y="4160520"/>
            <a:ext cx="822960" cy="457200"/>
          </a:xfrm>
          <a:prstGeom prst="rect">
            <a:avLst/>
          </a:prstGeom>
          <a:noFill/>
          <a:ln/>
        </p:spPr>
        <p:txBody>
          <a:bodyPr wrap="square" rtlCol="0" anchor="ctr"/>
          <a:lstStyle/>
          <a:p>
            <a:pPr indent="0" marL="0">
              <a:buNone/>
            </a:pPr>
            <a:r>
              <a:rPr lang="en-US" sz="2200" b="1" dirty="0">
                <a:solidFill>
                  <a:srgbClr val="C9D7E5"/>
                </a:solidFill>
                <a:latin typeface="Cambria" pitchFamily="34" charset="0"/>
                <a:ea typeface="Cambria" pitchFamily="34" charset="-122"/>
                <a:cs typeface="Cambria" pitchFamily="34" charset="-120"/>
              </a:rPr>
              <a:t>04</a:t>
            </a:r>
            <a:endParaRPr lang="en-US" sz="2200" dirty="0"/>
          </a:p>
        </p:txBody>
      </p:sp>
      <p:sp>
        <p:nvSpPr>
          <p:cNvPr id="25" name="Text 23"/>
          <p:cNvSpPr/>
          <p:nvPr/>
        </p:nvSpPr>
        <p:spPr>
          <a:xfrm>
            <a:off x="731520" y="4645152"/>
            <a:ext cx="315468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Purchase &amp; Sales</a:t>
            </a:r>
            <a:endParaRPr lang="en-US" sz="1450" dirty="0"/>
          </a:p>
        </p:txBody>
      </p:sp>
      <p:sp>
        <p:nvSpPr>
          <p:cNvPr id="26" name="Text 24"/>
          <p:cNvSpPr/>
          <p:nvPr/>
        </p:nvSpPr>
        <p:spPr>
          <a:xfrm>
            <a:off x="731520" y="5047488"/>
            <a:ext cx="3154680" cy="777240"/>
          </a:xfrm>
          <a:prstGeom prst="rect">
            <a:avLst/>
          </a:prstGeom>
          <a:noFill/>
          <a:ln/>
        </p:spPr>
        <p:txBody>
          <a:bodyPr wrap="square" rtlCol="0" anchor="t"/>
          <a:lstStyle/>
          <a:p>
            <a:pPr indent="0" marL="0">
              <a:buNone/>
            </a:pPr>
            <a:r>
              <a:rPr lang="en-US" sz="1150" dirty="0">
                <a:solidFill>
                  <a:srgbClr val="52606D"/>
                </a:solidFill>
                <a:latin typeface="Calibri" pitchFamily="34" charset="0"/>
                <a:ea typeface="Calibri" pitchFamily="34" charset="-122"/>
                <a:cs typeface="Calibri" pitchFamily="34" charset="-120"/>
              </a:rPr>
              <a:t>Record incoming stock and customer sales transactions.</a:t>
            </a:r>
            <a:endParaRPr lang="en-US" sz="1150" dirty="0"/>
          </a:p>
        </p:txBody>
      </p:sp>
      <p:sp>
        <p:nvSpPr>
          <p:cNvPr id="27" name="Shape 25"/>
          <p:cNvSpPr/>
          <p:nvPr/>
        </p:nvSpPr>
        <p:spPr>
          <a:xfrm>
            <a:off x="3566160" y="4187952"/>
            <a:ext cx="347472" cy="347472"/>
          </a:xfrm>
          <a:prstGeom prst="ellipse">
            <a:avLst/>
          </a:prstGeom>
          <a:solidFill>
            <a:srgbClr val="00B8A9"/>
          </a:solidFill>
          <a:ln/>
        </p:spPr>
      </p:sp>
      <p:sp>
        <p:nvSpPr>
          <p:cNvPr id="28" name="Text 26"/>
          <p:cNvSpPr/>
          <p:nvPr/>
        </p:nvSpPr>
        <p:spPr>
          <a:xfrm>
            <a:off x="3566160" y="418795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29" name="Shape 27"/>
          <p:cNvSpPr/>
          <p:nvPr/>
        </p:nvSpPr>
        <p:spPr>
          <a:xfrm>
            <a:off x="4297680" y="4023360"/>
            <a:ext cx="3520440" cy="1874520"/>
          </a:xfrm>
          <a:prstGeom prst="roundRect">
            <a:avLst>
              <a:gd name="adj" fmla="val 4390"/>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30" name="Text 28"/>
          <p:cNvSpPr/>
          <p:nvPr/>
        </p:nvSpPr>
        <p:spPr>
          <a:xfrm>
            <a:off x="4480560" y="4160520"/>
            <a:ext cx="822960" cy="457200"/>
          </a:xfrm>
          <a:prstGeom prst="rect">
            <a:avLst/>
          </a:prstGeom>
          <a:noFill/>
          <a:ln/>
        </p:spPr>
        <p:txBody>
          <a:bodyPr wrap="square" rtlCol="0" anchor="ctr"/>
          <a:lstStyle/>
          <a:p>
            <a:pPr indent="0" marL="0">
              <a:buNone/>
            </a:pPr>
            <a:r>
              <a:rPr lang="en-US" sz="2200" b="1" dirty="0">
                <a:solidFill>
                  <a:srgbClr val="C9D7E5"/>
                </a:solidFill>
                <a:latin typeface="Cambria" pitchFamily="34" charset="0"/>
                <a:ea typeface="Cambria" pitchFamily="34" charset="-122"/>
                <a:cs typeface="Cambria" pitchFamily="34" charset="-120"/>
              </a:rPr>
              <a:t>05</a:t>
            </a:r>
            <a:endParaRPr lang="en-US" sz="2200" dirty="0"/>
          </a:p>
        </p:txBody>
      </p:sp>
      <p:sp>
        <p:nvSpPr>
          <p:cNvPr id="31" name="Text 29"/>
          <p:cNvSpPr/>
          <p:nvPr/>
        </p:nvSpPr>
        <p:spPr>
          <a:xfrm>
            <a:off x="4480560" y="4645152"/>
            <a:ext cx="315468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Smart Inventory Alerts</a:t>
            </a:r>
            <a:endParaRPr lang="en-US" sz="1450" dirty="0"/>
          </a:p>
        </p:txBody>
      </p:sp>
      <p:sp>
        <p:nvSpPr>
          <p:cNvPr id="32" name="Text 30"/>
          <p:cNvSpPr/>
          <p:nvPr/>
        </p:nvSpPr>
        <p:spPr>
          <a:xfrm>
            <a:off x="4480560" y="5047488"/>
            <a:ext cx="3154680" cy="777240"/>
          </a:xfrm>
          <a:prstGeom prst="rect">
            <a:avLst/>
          </a:prstGeom>
          <a:noFill/>
          <a:ln/>
        </p:spPr>
        <p:txBody>
          <a:bodyPr wrap="square" rtlCol="0" anchor="t"/>
          <a:lstStyle/>
          <a:p>
            <a:pPr indent="0" marL="0">
              <a:buNone/>
            </a:pPr>
            <a:r>
              <a:rPr lang="en-US" sz="1150" dirty="0">
                <a:solidFill>
                  <a:srgbClr val="52606D"/>
                </a:solidFill>
                <a:latin typeface="Calibri" pitchFamily="34" charset="0"/>
                <a:ea typeface="Calibri" pitchFamily="34" charset="-122"/>
                <a:cs typeface="Calibri" pitchFamily="34" charset="-120"/>
              </a:rPr>
              <a:t>Identify low-stock and near-expiry medicines.</a:t>
            </a:r>
            <a:endParaRPr lang="en-US" sz="1150" dirty="0"/>
          </a:p>
        </p:txBody>
      </p:sp>
      <p:sp>
        <p:nvSpPr>
          <p:cNvPr id="33" name="Shape 31"/>
          <p:cNvSpPr/>
          <p:nvPr/>
        </p:nvSpPr>
        <p:spPr>
          <a:xfrm>
            <a:off x="7315200" y="4187952"/>
            <a:ext cx="347472" cy="347472"/>
          </a:xfrm>
          <a:prstGeom prst="ellipse">
            <a:avLst/>
          </a:prstGeom>
          <a:solidFill>
            <a:srgbClr val="00B8A9"/>
          </a:solidFill>
          <a:ln/>
        </p:spPr>
      </p:sp>
      <p:sp>
        <p:nvSpPr>
          <p:cNvPr id="34" name="Text 32"/>
          <p:cNvSpPr/>
          <p:nvPr/>
        </p:nvSpPr>
        <p:spPr>
          <a:xfrm>
            <a:off x="7315200" y="418795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a:t>
            </a:r>
            <a:endParaRPr lang="en-US" sz="900" dirty="0"/>
          </a:p>
        </p:txBody>
      </p:sp>
      <p:sp>
        <p:nvSpPr>
          <p:cNvPr id="35" name="Shape 33"/>
          <p:cNvSpPr/>
          <p:nvPr/>
        </p:nvSpPr>
        <p:spPr>
          <a:xfrm>
            <a:off x="8046720" y="4023360"/>
            <a:ext cx="3520440" cy="1874520"/>
          </a:xfrm>
          <a:prstGeom prst="roundRect">
            <a:avLst>
              <a:gd name="adj" fmla="val 4390"/>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36" name="Text 34"/>
          <p:cNvSpPr/>
          <p:nvPr/>
        </p:nvSpPr>
        <p:spPr>
          <a:xfrm>
            <a:off x="8229600" y="4160520"/>
            <a:ext cx="822960" cy="457200"/>
          </a:xfrm>
          <a:prstGeom prst="rect">
            <a:avLst/>
          </a:prstGeom>
          <a:noFill/>
          <a:ln/>
        </p:spPr>
        <p:txBody>
          <a:bodyPr wrap="square" rtlCol="0" anchor="ctr"/>
          <a:lstStyle/>
          <a:p>
            <a:pPr indent="0" marL="0">
              <a:buNone/>
            </a:pPr>
            <a:r>
              <a:rPr lang="en-US" sz="2200" b="1" dirty="0">
                <a:solidFill>
                  <a:srgbClr val="C9D7E5"/>
                </a:solidFill>
                <a:latin typeface="Cambria" pitchFamily="34" charset="0"/>
                <a:ea typeface="Cambria" pitchFamily="34" charset="-122"/>
                <a:cs typeface="Cambria" pitchFamily="34" charset="-120"/>
              </a:rPr>
              <a:t>06</a:t>
            </a:r>
            <a:endParaRPr lang="en-US" sz="2200" dirty="0"/>
          </a:p>
        </p:txBody>
      </p:sp>
      <p:sp>
        <p:nvSpPr>
          <p:cNvPr id="37" name="Text 35"/>
          <p:cNvSpPr/>
          <p:nvPr/>
        </p:nvSpPr>
        <p:spPr>
          <a:xfrm>
            <a:off x="8229600" y="4645152"/>
            <a:ext cx="315468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Analytics Dashboard</a:t>
            </a:r>
            <a:endParaRPr lang="en-US" sz="1450" dirty="0"/>
          </a:p>
        </p:txBody>
      </p:sp>
      <p:sp>
        <p:nvSpPr>
          <p:cNvPr id="38" name="Text 36"/>
          <p:cNvSpPr/>
          <p:nvPr/>
        </p:nvSpPr>
        <p:spPr>
          <a:xfrm>
            <a:off x="8229600" y="5047488"/>
            <a:ext cx="3154680" cy="777240"/>
          </a:xfrm>
          <a:prstGeom prst="rect">
            <a:avLst/>
          </a:prstGeom>
          <a:noFill/>
          <a:ln/>
        </p:spPr>
        <p:txBody>
          <a:bodyPr wrap="square" rtlCol="0" anchor="t"/>
          <a:lstStyle/>
          <a:p>
            <a:pPr indent="0" marL="0">
              <a:buNone/>
            </a:pPr>
            <a:r>
              <a:rPr lang="en-US" sz="1150" dirty="0">
                <a:solidFill>
                  <a:srgbClr val="52606D"/>
                </a:solidFill>
                <a:latin typeface="Calibri" pitchFamily="34" charset="0"/>
                <a:ea typeface="Calibri" pitchFamily="34" charset="-122"/>
                <a:cs typeface="Calibri" pitchFamily="34" charset="-120"/>
              </a:rPr>
              <a:t>Visualize stock status, inventory trends and fast-moving medicines.</a:t>
            </a:r>
            <a:endParaRPr lang="en-US" sz="1150" dirty="0"/>
          </a:p>
        </p:txBody>
      </p:sp>
      <p:sp>
        <p:nvSpPr>
          <p:cNvPr id="39" name="Shape 37"/>
          <p:cNvSpPr/>
          <p:nvPr/>
        </p:nvSpPr>
        <p:spPr>
          <a:xfrm>
            <a:off x="11064240" y="4187952"/>
            <a:ext cx="347472" cy="347472"/>
          </a:xfrm>
          <a:prstGeom prst="ellipse">
            <a:avLst/>
          </a:prstGeom>
          <a:solidFill>
            <a:srgbClr val="00B8A9"/>
          </a:solidFill>
          <a:ln/>
        </p:spPr>
      </p:sp>
      <p:sp>
        <p:nvSpPr>
          <p:cNvPr id="40" name="Text 38"/>
          <p:cNvSpPr/>
          <p:nvPr/>
        </p:nvSpPr>
        <p:spPr>
          <a:xfrm>
            <a:off x="11064240" y="418795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AN</a:t>
            </a:r>
            <a:endParaRPr lang="en-US" sz="900" dirty="0"/>
          </a:p>
        </p:txBody>
      </p:sp>
      <p:sp>
        <p:nvSpPr>
          <p:cNvPr id="42" name="Text 39"/>
          <p:cNvSpPr/>
          <p:nvPr/>
        </p:nvSpPr>
        <p:spPr>
          <a:xfrm>
            <a:off x="457200" y="6510528"/>
            <a:ext cx="8686800" cy="274320"/>
          </a:xfrm>
          <a:prstGeom prst="rect">
            <a:avLst/>
          </a:prstGeom>
          <a:noFill/>
          <a:ln/>
        </p:spPr>
        <p:txBody>
          <a:bodyPr wrap="square" rtlCol="0" anchor="ctr"/>
          <a:lstStyle/>
          <a:p>
            <a:pPr algn="l" indent="0" marL="0">
              <a:buNone/>
            </a:pPr>
            <a:r>
              <a:rPr lang="en-US" sz="900" dirty="0">
                <a:solidFill>
                  <a:srgbClr val="52606D"/>
                </a:solidFill>
                <a:latin typeface="Calibri" pitchFamily="34" charset="0"/>
                <a:ea typeface="Calibri" pitchFamily="34" charset="-122"/>
                <a:cs typeface="Calibri" pitchFamily="34" charset="-120"/>
              </a:rPr>
              <a:t>Medicine Stock Management &amp; Analytics Portal  |  Project Review – 2</a:t>
            </a:r>
            <a:endParaRPr lang="en-US" sz="900" dirty="0"/>
          </a:p>
        </p:txBody>
      </p:sp>
      <p:sp>
        <p:nvSpPr>
          <p:cNvPr id="43" name="Text 40"/>
          <p:cNvSpPr/>
          <p:nvPr/>
        </p:nvSpPr>
        <p:spPr>
          <a:xfrm>
            <a:off x="11277295" y="6510528"/>
            <a:ext cx="457200" cy="274320"/>
          </a:xfrm>
          <a:prstGeom prst="rect">
            <a:avLst/>
          </a:prstGeom>
          <a:noFill/>
          <a:ln/>
        </p:spPr>
        <p:txBody>
          <a:bodyPr wrap="square"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A2B"/>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00B8A9"/>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Proposed System Architecture</a:t>
            </a:r>
            <a:endParaRPr lang="en-US" sz="3200" dirty="0"/>
          </a:p>
        </p:txBody>
      </p:sp>
      <p:sp>
        <p:nvSpPr>
          <p:cNvPr id="4" name="Shape 2"/>
          <p:cNvSpPr/>
          <p:nvPr/>
        </p:nvSpPr>
        <p:spPr>
          <a:xfrm>
            <a:off x="548640" y="1783080"/>
            <a:ext cx="7863840" cy="1170432"/>
          </a:xfrm>
          <a:prstGeom prst="roundRect">
            <a:avLst>
              <a:gd name="adj" fmla="val 6250"/>
            </a:avLst>
          </a:prstGeom>
          <a:solidFill>
            <a:srgbClr val="0A2540"/>
          </a:solidFill>
          <a:ln w="19050">
            <a:solidFill>
              <a:srgbClr val="00B8A9"/>
            </a:solidFill>
            <a:prstDash val="solid"/>
          </a:ln>
        </p:spPr>
      </p:sp>
      <p:sp>
        <p:nvSpPr>
          <p:cNvPr id="5" name="Shape 3"/>
          <p:cNvSpPr/>
          <p:nvPr/>
        </p:nvSpPr>
        <p:spPr>
          <a:xfrm>
            <a:off x="548640" y="1783080"/>
            <a:ext cx="82296" cy="1170432"/>
          </a:xfrm>
          <a:prstGeom prst="roundRect">
            <a:avLst/>
          </a:prstGeom>
          <a:solidFill>
            <a:srgbClr val="00B8A9"/>
          </a:solidFill>
          <a:ln/>
        </p:spPr>
      </p:sp>
      <p:sp>
        <p:nvSpPr>
          <p:cNvPr id="6" name="Shape 4"/>
          <p:cNvSpPr/>
          <p:nvPr/>
        </p:nvSpPr>
        <p:spPr>
          <a:xfrm>
            <a:off x="804672" y="2002536"/>
            <a:ext cx="566928" cy="566928"/>
          </a:xfrm>
          <a:prstGeom prst="ellipse">
            <a:avLst/>
          </a:prstGeom>
          <a:solidFill>
            <a:srgbClr val="00B8A9"/>
          </a:solidFill>
          <a:ln/>
        </p:spPr>
      </p:sp>
      <p:sp>
        <p:nvSpPr>
          <p:cNvPr id="7" name="Text 5"/>
          <p:cNvSpPr/>
          <p:nvPr/>
        </p:nvSpPr>
        <p:spPr>
          <a:xfrm>
            <a:off x="804672" y="2002536"/>
            <a:ext cx="566928" cy="566928"/>
          </a:xfrm>
          <a:prstGeom prst="rect">
            <a:avLst/>
          </a:prstGeom>
          <a:noFill/>
          <a:ln/>
        </p:spPr>
        <p:txBody>
          <a:bodyPr wrap="square" lIns="0" tIns="0" rIns="0" bIns="0" rtlCol="0" anchor="ctr"/>
          <a:lstStyle/>
          <a:p>
            <a:pPr algn="ctr" indent="0" marL="0">
              <a:buNone/>
            </a:pPr>
            <a:r>
              <a:rPr lang="en-US" sz="1200" b="1" dirty="0">
                <a:solidFill>
                  <a:srgbClr val="071A2B"/>
                </a:solidFill>
                <a:latin typeface="Calibri" pitchFamily="34" charset="0"/>
                <a:ea typeface="Calibri" pitchFamily="34" charset="-122"/>
                <a:cs typeface="Calibri" pitchFamily="34" charset="-120"/>
              </a:rPr>
              <a:t>UI</a:t>
            </a:r>
            <a:endParaRPr lang="en-US" sz="1200" dirty="0"/>
          </a:p>
        </p:txBody>
      </p:sp>
      <p:sp>
        <p:nvSpPr>
          <p:cNvPr id="8" name="Text 6"/>
          <p:cNvSpPr/>
          <p:nvPr/>
        </p:nvSpPr>
        <p:spPr>
          <a:xfrm>
            <a:off x="1554480" y="1874520"/>
            <a:ext cx="6583680" cy="256032"/>
          </a:xfrm>
          <a:prstGeom prst="rect">
            <a:avLst/>
          </a:prstGeom>
          <a:noFill/>
          <a:ln/>
        </p:spPr>
        <p:txBody>
          <a:bodyPr wrap="square" rtlCol="0" anchor="ctr"/>
          <a:lstStyle/>
          <a:p>
            <a:pPr indent="0" marL="0">
              <a:buNone/>
            </a:pPr>
            <a:r>
              <a:rPr lang="en-US" sz="1200" b="1" spc="100" kern="0" dirty="0">
                <a:solidFill>
                  <a:srgbClr val="00B8A9"/>
                </a:solidFill>
                <a:latin typeface="Calibri" pitchFamily="34" charset="0"/>
                <a:ea typeface="Calibri" pitchFamily="34" charset="-122"/>
                <a:cs typeface="Calibri" pitchFamily="34" charset="-120"/>
              </a:rPr>
              <a:t>PRESENTATION LAYER</a:t>
            </a:r>
            <a:endParaRPr lang="en-US" sz="1200" dirty="0"/>
          </a:p>
        </p:txBody>
      </p:sp>
      <p:sp>
        <p:nvSpPr>
          <p:cNvPr id="9" name="Text 7"/>
          <p:cNvSpPr/>
          <p:nvPr/>
        </p:nvSpPr>
        <p:spPr>
          <a:xfrm>
            <a:off x="1554480" y="2148840"/>
            <a:ext cx="6583680" cy="329184"/>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React.js  |  HTML5  |  CSS3  |  JavaScript (ES6+)</a:t>
            </a:r>
            <a:endParaRPr lang="en-US" sz="1550" dirty="0"/>
          </a:p>
        </p:txBody>
      </p:sp>
      <p:sp>
        <p:nvSpPr>
          <p:cNvPr id="10" name="Text 8"/>
          <p:cNvSpPr/>
          <p:nvPr/>
        </p:nvSpPr>
        <p:spPr>
          <a:xfrm>
            <a:off x="1554480" y="2532888"/>
            <a:ext cx="6583680" cy="384048"/>
          </a:xfrm>
          <a:prstGeom prst="rect">
            <a:avLst/>
          </a:prstGeom>
          <a:noFill/>
          <a:ln/>
        </p:spPr>
        <p:txBody>
          <a:bodyPr wrap="square" rtlCol="0" anchor="ctr"/>
          <a:lstStyle/>
          <a:p>
            <a:pPr indent="0" marL="0">
              <a:buNone/>
            </a:pPr>
            <a:r>
              <a:rPr lang="en-US" sz="950" dirty="0">
                <a:solidFill>
                  <a:srgbClr val="94A9BD"/>
                </a:solidFill>
                <a:latin typeface="Calibri" pitchFamily="34" charset="0"/>
                <a:ea typeface="Calibri" pitchFamily="34" charset="-122"/>
                <a:cs typeface="Calibri" pitchFamily="34" charset="-120"/>
              </a:rPr>
              <a:t>Inventory interface • Medicine management • Supplier management • Batch/stock views • Sales interface • Analytics dashboard</a:t>
            </a:r>
            <a:endParaRPr lang="en-US" sz="950" dirty="0"/>
          </a:p>
        </p:txBody>
      </p:sp>
      <p:sp>
        <p:nvSpPr>
          <p:cNvPr id="11" name="Text 9"/>
          <p:cNvSpPr/>
          <p:nvPr/>
        </p:nvSpPr>
        <p:spPr>
          <a:xfrm>
            <a:off x="4297680" y="2962656"/>
            <a:ext cx="365760" cy="237744"/>
          </a:xfrm>
          <a:prstGeom prst="rect">
            <a:avLst/>
          </a:prstGeom>
          <a:noFill/>
          <a:ln/>
        </p:spPr>
        <p:txBody>
          <a:bodyPr wrap="square" rtlCol="0" anchor="ctr"/>
          <a:lstStyle/>
          <a:p>
            <a:pPr algn="ctr" indent="0" marL="0">
              <a:buNone/>
            </a:pPr>
            <a:r>
              <a:rPr lang="en-US" sz="1600" b="1" dirty="0">
                <a:solidFill>
                  <a:srgbClr val="00B8A9"/>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548640" y="3209544"/>
            <a:ext cx="7863840" cy="1170432"/>
          </a:xfrm>
          <a:prstGeom prst="roundRect">
            <a:avLst>
              <a:gd name="adj" fmla="val 6250"/>
            </a:avLst>
          </a:prstGeom>
          <a:solidFill>
            <a:srgbClr val="0A2540"/>
          </a:solidFill>
          <a:ln w="19050">
            <a:solidFill>
              <a:srgbClr val="00D4FF"/>
            </a:solidFill>
            <a:prstDash val="solid"/>
          </a:ln>
        </p:spPr>
      </p:sp>
      <p:sp>
        <p:nvSpPr>
          <p:cNvPr id="13" name="Shape 11"/>
          <p:cNvSpPr/>
          <p:nvPr/>
        </p:nvSpPr>
        <p:spPr>
          <a:xfrm>
            <a:off x="548640" y="3209544"/>
            <a:ext cx="82296" cy="1170432"/>
          </a:xfrm>
          <a:prstGeom prst="roundRect">
            <a:avLst/>
          </a:prstGeom>
          <a:solidFill>
            <a:srgbClr val="00D4FF"/>
          </a:solidFill>
          <a:ln/>
        </p:spPr>
      </p:sp>
      <p:sp>
        <p:nvSpPr>
          <p:cNvPr id="14" name="Shape 12"/>
          <p:cNvSpPr/>
          <p:nvPr/>
        </p:nvSpPr>
        <p:spPr>
          <a:xfrm>
            <a:off x="804672" y="3429000"/>
            <a:ext cx="566928" cy="566928"/>
          </a:xfrm>
          <a:prstGeom prst="ellipse">
            <a:avLst/>
          </a:prstGeom>
          <a:solidFill>
            <a:srgbClr val="00D4FF"/>
          </a:solidFill>
          <a:ln/>
        </p:spPr>
      </p:sp>
      <p:sp>
        <p:nvSpPr>
          <p:cNvPr id="15" name="Text 13"/>
          <p:cNvSpPr/>
          <p:nvPr/>
        </p:nvSpPr>
        <p:spPr>
          <a:xfrm>
            <a:off x="804672" y="3429000"/>
            <a:ext cx="566928" cy="566928"/>
          </a:xfrm>
          <a:prstGeom prst="rect">
            <a:avLst/>
          </a:prstGeom>
          <a:noFill/>
          <a:ln/>
        </p:spPr>
        <p:txBody>
          <a:bodyPr wrap="square" lIns="0" tIns="0" rIns="0" bIns="0" rtlCol="0" anchor="ctr"/>
          <a:lstStyle/>
          <a:p>
            <a:pPr algn="ctr" indent="0" marL="0">
              <a:buNone/>
            </a:pPr>
            <a:r>
              <a:rPr lang="en-US" sz="1200" b="1" dirty="0">
                <a:solidFill>
                  <a:srgbClr val="071A2B"/>
                </a:solidFill>
                <a:latin typeface="Calibri" pitchFamily="34" charset="0"/>
                <a:ea typeface="Calibri" pitchFamily="34" charset="-122"/>
                <a:cs typeface="Calibri" pitchFamily="34" charset="-120"/>
              </a:rPr>
              <a:t>API</a:t>
            </a:r>
            <a:endParaRPr lang="en-US" sz="1200" dirty="0"/>
          </a:p>
        </p:txBody>
      </p:sp>
      <p:sp>
        <p:nvSpPr>
          <p:cNvPr id="16" name="Text 14"/>
          <p:cNvSpPr/>
          <p:nvPr/>
        </p:nvSpPr>
        <p:spPr>
          <a:xfrm>
            <a:off x="1554480" y="3300984"/>
            <a:ext cx="6583680" cy="256032"/>
          </a:xfrm>
          <a:prstGeom prst="rect">
            <a:avLst/>
          </a:prstGeom>
          <a:noFill/>
          <a:ln/>
        </p:spPr>
        <p:txBody>
          <a:bodyPr wrap="square" rtlCol="0" anchor="ctr"/>
          <a:lstStyle/>
          <a:p>
            <a:pPr indent="0" marL="0">
              <a:buNone/>
            </a:pPr>
            <a:r>
              <a:rPr lang="en-US" sz="1200" b="1" spc="100" kern="0" dirty="0">
                <a:solidFill>
                  <a:srgbClr val="00D4FF"/>
                </a:solidFill>
                <a:latin typeface="Calibri" pitchFamily="34" charset="0"/>
                <a:ea typeface="Calibri" pitchFamily="34" charset="-122"/>
                <a:cs typeface="Calibri" pitchFamily="34" charset="-120"/>
              </a:rPr>
              <a:t>APPLICATION LAYER</a:t>
            </a:r>
            <a:endParaRPr lang="en-US" sz="1200" dirty="0"/>
          </a:p>
        </p:txBody>
      </p:sp>
      <p:sp>
        <p:nvSpPr>
          <p:cNvPr id="17" name="Text 15"/>
          <p:cNvSpPr/>
          <p:nvPr/>
        </p:nvSpPr>
        <p:spPr>
          <a:xfrm>
            <a:off x="1554480" y="3575304"/>
            <a:ext cx="6583680" cy="329184"/>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Node.js  +  Express.js</a:t>
            </a:r>
            <a:endParaRPr lang="en-US" sz="1550" dirty="0"/>
          </a:p>
        </p:txBody>
      </p:sp>
      <p:sp>
        <p:nvSpPr>
          <p:cNvPr id="18" name="Text 16"/>
          <p:cNvSpPr/>
          <p:nvPr/>
        </p:nvSpPr>
        <p:spPr>
          <a:xfrm>
            <a:off x="1554480" y="3959352"/>
            <a:ext cx="4846320" cy="384048"/>
          </a:xfrm>
          <a:prstGeom prst="rect">
            <a:avLst/>
          </a:prstGeom>
          <a:noFill/>
          <a:ln/>
        </p:spPr>
        <p:txBody>
          <a:bodyPr wrap="square" rtlCol="0" anchor="ctr"/>
          <a:lstStyle/>
          <a:p>
            <a:pPr indent="0" marL="0">
              <a:buNone/>
            </a:pPr>
            <a:r>
              <a:rPr lang="en-US" sz="950" dirty="0">
                <a:solidFill>
                  <a:srgbClr val="94A9BD"/>
                </a:solidFill>
                <a:latin typeface="Calibri" pitchFamily="34" charset="0"/>
                <a:ea typeface="Calibri" pitchFamily="34" charset="-122"/>
                <a:cs typeface="Calibri" pitchFamily="34" charset="-120"/>
              </a:rPr>
              <a:t>RESTful APIs • Business logic • Request validation • Authentication &amp; authorization • Inventory operations</a:t>
            </a:r>
            <a:endParaRPr lang="en-US" sz="950" dirty="0"/>
          </a:p>
        </p:txBody>
      </p:sp>
      <p:sp>
        <p:nvSpPr>
          <p:cNvPr id="19" name="Shape 17"/>
          <p:cNvSpPr/>
          <p:nvPr/>
        </p:nvSpPr>
        <p:spPr>
          <a:xfrm>
            <a:off x="6473952" y="3451860"/>
            <a:ext cx="1737360" cy="310896"/>
          </a:xfrm>
          <a:prstGeom prst="roundRect">
            <a:avLst>
              <a:gd name="adj" fmla="val 50000"/>
            </a:avLst>
          </a:prstGeom>
          <a:solidFill>
            <a:srgbClr val="00D4FF"/>
          </a:solidFill>
          <a:ln/>
        </p:spPr>
      </p:sp>
      <p:sp>
        <p:nvSpPr>
          <p:cNvPr id="20" name="Text 18"/>
          <p:cNvSpPr/>
          <p:nvPr/>
        </p:nvSpPr>
        <p:spPr>
          <a:xfrm>
            <a:off x="6473952" y="3451860"/>
            <a:ext cx="1737360" cy="310896"/>
          </a:xfrm>
          <a:prstGeom prst="rect">
            <a:avLst/>
          </a:prstGeom>
          <a:noFill/>
          <a:ln/>
        </p:spPr>
        <p:txBody>
          <a:bodyPr wrap="square" lIns="0" tIns="0" rIns="0" bIns="0" rtlCol="0" anchor="ctr"/>
          <a:lstStyle/>
          <a:p>
            <a:pPr algn="ctr" indent="0" marL="0">
              <a:buNone/>
            </a:pPr>
            <a:r>
              <a:rPr lang="en-US" sz="1050" b="1" dirty="0">
                <a:solidFill>
                  <a:srgbClr val="071A2B"/>
                </a:solidFill>
                <a:latin typeface="Calibri" pitchFamily="34" charset="0"/>
                <a:ea typeface="Calibri" pitchFamily="34" charset="-122"/>
                <a:cs typeface="Calibri" pitchFamily="34" charset="-120"/>
              </a:rPr>
              <a:t>JWT  </a:t>
            </a:r>
            <a:pPr algn="ctr" indent="0" marL="0">
              <a:buNone/>
            </a:pPr>
            <a:r>
              <a:rPr lang="en-US" sz="800" dirty="0">
                <a:solidFill>
                  <a:srgbClr val="1F3A4A"/>
                </a:solidFill>
                <a:latin typeface="Calibri" pitchFamily="34" charset="0"/>
                <a:ea typeface="Calibri" pitchFamily="34" charset="-122"/>
                <a:cs typeface="Calibri" pitchFamily="34" charset="-120"/>
              </a:rPr>
              <a:t>Authentication</a:t>
            </a:r>
            <a:endParaRPr lang="en-US" sz="1050" dirty="0"/>
          </a:p>
        </p:txBody>
      </p:sp>
      <p:sp>
        <p:nvSpPr>
          <p:cNvPr id="21" name="Shape 19"/>
          <p:cNvSpPr/>
          <p:nvPr/>
        </p:nvSpPr>
        <p:spPr>
          <a:xfrm>
            <a:off x="6473952" y="3826764"/>
            <a:ext cx="1737360" cy="310896"/>
          </a:xfrm>
          <a:prstGeom prst="roundRect">
            <a:avLst>
              <a:gd name="adj" fmla="val 50000"/>
            </a:avLst>
          </a:prstGeom>
          <a:solidFill>
            <a:srgbClr val="00D4FF"/>
          </a:solidFill>
          <a:ln/>
        </p:spPr>
      </p:sp>
      <p:sp>
        <p:nvSpPr>
          <p:cNvPr id="22" name="Text 20"/>
          <p:cNvSpPr/>
          <p:nvPr/>
        </p:nvSpPr>
        <p:spPr>
          <a:xfrm>
            <a:off x="6473952" y="3826764"/>
            <a:ext cx="1737360" cy="310896"/>
          </a:xfrm>
          <a:prstGeom prst="rect">
            <a:avLst/>
          </a:prstGeom>
          <a:noFill/>
          <a:ln/>
        </p:spPr>
        <p:txBody>
          <a:bodyPr wrap="square" lIns="0" tIns="0" rIns="0" bIns="0" rtlCol="0" anchor="ctr"/>
          <a:lstStyle/>
          <a:p>
            <a:pPr algn="ctr" indent="0" marL="0">
              <a:buNone/>
            </a:pPr>
            <a:r>
              <a:rPr lang="en-US" sz="1050" b="1" dirty="0">
                <a:solidFill>
                  <a:srgbClr val="071A2B"/>
                </a:solidFill>
                <a:latin typeface="Calibri" pitchFamily="34" charset="0"/>
                <a:ea typeface="Calibri" pitchFamily="34" charset="-122"/>
                <a:cs typeface="Calibri" pitchFamily="34" charset="-120"/>
              </a:rPr>
              <a:t>bcrypt  </a:t>
            </a:r>
            <a:pPr algn="ctr" indent="0" marL="0">
              <a:buNone/>
            </a:pPr>
            <a:r>
              <a:rPr lang="en-US" sz="800" dirty="0">
                <a:solidFill>
                  <a:srgbClr val="1F3A4A"/>
                </a:solidFill>
                <a:latin typeface="Calibri" pitchFamily="34" charset="0"/>
                <a:ea typeface="Calibri" pitchFamily="34" charset="-122"/>
                <a:cs typeface="Calibri" pitchFamily="34" charset="-120"/>
              </a:rPr>
              <a:t>Password Hashing</a:t>
            </a:r>
            <a:endParaRPr lang="en-US" sz="1050" dirty="0"/>
          </a:p>
        </p:txBody>
      </p:sp>
      <p:sp>
        <p:nvSpPr>
          <p:cNvPr id="23" name="Text 21"/>
          <p:cNvSpPr/>
          <p:nvPr/>
        </p:nvSpPr>
        <p:spPr>
          <a:xfrm>
            <a:off x="4297680" y="4389120"/>
            <a:ext cx="365760" cy="237744"/>
          </a:xfrm>
          <a:prstGeom prst="rect">
            <a:avLst/>
          </a:prstGeom>
          <a:noFill/>
          <a:ln/>
        </p:spPr>
        <p:txBody>
          <a:bodyPr wrap="square" rtlCol="0" anchor="ctr"/>
          <a:lstStyle/>
          <a:p>
            <a:pPr algn="ctr" indent="0" marL="0">
              <a:buNone/>
            </a:pPr>
            <a:r>
              <a:rPr lang="en-US" sz="1600" b="1" dirty="0">
                <a:solidFill>
                  <a:srgbClr val="00B8A9"/>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548640" y="4636008"/>
            <a:ext cx="7863840" cy="1170432"/>
          </a:xfrm>
          <a:prstGeom prst="roundRect">
            <a:avLst>
              <a:gd name="adj" fmla="val 6250"/>
            </a:avLst>
          </a:prstGeom>
          <a:solidFill>
            <a:srgbClr val="0A2540"/>
          </a:solidFill>
          <a:ln w="19050">
            <a:solidFill>
              <a:srgbClr val="6EE7DA"/>
            </a:solidFill>
            <a:prstDash val="solid"/>
          </a:ln>
        </p:spPr>
      </p:sp>
      <p:sp>
        <p:nvSpPr>
          <p:cNvPr id="25" name="Shape 23"/>
          <p:cNvSpPr/>
          <p:nvPr/>
        </p:nvSpPr>
        <p:spPr>
          <a:xfrm>
            <a:off x="548640" y="4636008"/>
            <a:ext cx="82296" cy="1170432"/>
          </a:xfrm>
          <a:prstGeom prst="roundRect">
            <a:avLst/>
          </a:prstGeom>
          <a:solidFill>
            <a:srgbClr val="6EE7DA"/>
          </a:solidFill>
          <a:ln/>
        </p:spPr>
      </p:sp>
      <p:sp>
        <p:nvSpPr>
          <p:cNvPr id="26" name="Shape 24"/>
          <p:cNvSpPr/>
          <p:nvPr/>
        </p:nvSpPr>
        <p:spPr>
          <a:xfrm>
            <a:off x="804672" y="4855464"/>
            <a:ext cx="566928" cy="566928"/>
          </a:xfrm>
          <a:prstGeom prst="ellipse">
            <a:avLst/>
          </a:prstGeom>
          <a:solidFill>
            <a:srgbClr val="6EE7DA"/>
          </a:solidFill>
          <a:ln/>
        </p:spPr>
      </p:sp>
      <p:sp>
        <p:nvSpPr>
          <p:cNvPr id="27" name="Text 25"/>
          <p:cNvSpPr/>
          <p:nvPr/>
        </p:nvSpPr>
        <p:spPr>
          <a:xfrm>
            <a:off x="804672" y="4855464"/>
            <a:ext cx="566928" cy="566928"/>
          </a:xfrm>
          <a:prstGeom prst="rect">
            <a:avLst/>
          </a:prstGeom>
          <a:noFill/>
          <a:ln/>
        </p:spPr>
        <p:txBody>
          <a:bodyPr wrap="square" lIns="0" tIns="0" rIns="0" bIns="0" rtlCol="0" anchor="ctr"/>
          <a:lstStyle/>
          <a:p>
            <a:pPr algn="ctr" indent="0" marL="0">
              <a:buNone/>
            </a:pPr>
            <a:r>
              <a:rPr lang="en-US" sz="1200" b="1" dirty="0">
                <a:solidFill>
                  <a:srgbClr val="071A2B"/>
                </a:solidFill>
                <a:latin typeface="Calibri" pitchFamily="34" charset="0"/>
                <a:ea typeface="Calibri" pitchFamily="34" charset="-122"/>
                <a:cs typeface="Calibri" pitchFamily="34" charset="-120"/>
              </a:rPr>
              <a:t>DB</a:t>
            </a:r>
            <a:endParaRPr lang="en-US" sz="1200" dirty="0"/>
          </a:p>
        </p:txBody>
      </p:sp>
      <p:sp>
        <p:nvSpPr>
          <p:cNvPr id="28" name="Text 26"/>
          <p:cNvSpPr/>
          <p:nvPr/>
        </p:nvSpPr>
        <p:spPr>
          <a:xfrm>
            <a:off x="1554480" y="4727448"/>
            <a:ext cx="6583680" cy="256032"/>
          </a:xfrm>
          <a:prstGeom prst="rect">
            <a:avLst/>
          </a:prstGeom>
          <a:noFill/>
          <a:ln/>
        </p:spPr>
        <p:txBody>
          <a:bodyPr wrap="square" rtlCol="0" anchor="ctr"/>
          <a:lstStyle/>
          <a:p>
            <a:pPr indent="0" marL="0">
              <a:buNone/>
            </a:pPr>
            <a:r>
              <a:rPr lang="en-US" sz="1200" b="1" spc="100" kern="0" dirty="0">
                <a:solidFill>
                  <a:srgbClr val="6EE7DA"/>
                </a:solidFill>
                <a:latin typeface="Calibri" pitchFamily="34" charset="0"/>
                <a:ea typeface="Calibri" pitchFamily="34" charset="-122"/>
                <a:cs typeface="Calibri" pitchFamily="34" charset="-120"/>
              </a:rPr>
              <a:t>DATA LAYER</a:t>
            </a:r>
            <a:endParaRPr lang="en-US" sz="1200" dirty="0"/>
          </a:p>
        </p:txBody>
      </p:sp>
      <p:sp>
        <p:nvSpPr>
          <p:cNvPr id="29" name="Text 27"/>
          <p:cNvSpPr/>
          <p:nvPr/>
        </p:nvSpPr>
        <p:spPr>
          <a:xfrm>
            <a:off x="1554480" y="5001768"/>
            <a:ext cx="6583680" cy="329184"/>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MongoDB  +  Mongoose</a:t>
            </a:r>
            <a:endParaRPr lang="en-US" sz="1550" dirty="0"/>
          </a:p>
        </p:txBody>
      </p:sp>
      <p:sp>
        <p:nvSpPr>
          <p:cNvPr id="30" name="Text 28"/>
          <p:cNvSpPr/>
          <p:nvPr/>
        </p:nvSpPr>
        <p:spPr>
          <a:xfrm>
            <a:off x="1554480" y="5385816"/>
            <a:ext cx="6583680" cy="384048"/>
          </a:xfrm>
          <a:prstGeom prst="rect">
            <a:avLst/>
          </a:prstGeom>
          <a:noFill/>
          <a:ln/>
        </p:spPr>
        <p:txBody>
          <a:bodyPr wrap="square" rtlCol="0" anchor="ctr"/>
          <a:lstStyle/>
          <a:p>
            <a:pPr indent="0" marL="0">
              <a:buNone/>
            </a:pPr>
            <a:r>
              <a:rPr lang="en-US" sz="950" dirty="0">
                <a:solidFill>
                  <a:srgbClr val="94A9BD"/>
                </a:solidFill>
                <a:latin typeface="Calibri" pitchFamily="34" charset="0"/>
                <a:ea typeface="Calibri" pitchFamily="34" charset="-122"/>
                <a:cs typeface="Calibri" pitchFamily="34" charset="-120"/>
              </a:rPr>
              <a:t>Medicines • Suppliers • Batches • Purchases • Sales • Sale Items • Users</a:t>
            </a:r>
            <a:endParaRPr lang="en-US" sz="950" dirty="0"/>
          </a:p>
        </p:txBody>
      </p:sp>
      <p:sp>
        <p:nvSpPr>
          <p:cNvPr id="31" name="Text 29"/>
          <p:cNvSpPr/>
          <p:nvPr/>
        </p:nvSpPr>
        <p:spPr>
          <a:xfrm>
            <a:off x="548640" y="6108192"/>
            <a:ext cx="7863840" cy="365760"/>
          </a:xfrm>
          <a:prstGeom prst="rect">
            <a:avLst/>
          </a:prstGeom>
          <a:noFill/>
          <a:ln/>
        </p:spPr>
        <p:txBody>
          <a:bodyPr wrap="square" rtlCol="0" anchor="ctr"/>
          <a:lstStyle/>
          <a:p>
            <a:pPr algn="ctr" indent="0" marL="0">
              <a:buNone/>
            </a:pPr>
            <a:r>
              <a:rPr lang="en-US" sz="1050" i="1" dirty="0">
                <a:solidFill>
                  <a:srgbClr val="8FA3B8"/>
                </a:solidFill>
                <a:latin typeface="Calibri" pitchFamily="34" charset="0"/>
                <a:ea typeface="Calibri" pitchFamily="34" charset="-122"/>
                <a:cs typeface="Calibri" pitchFamily="34" charset="-120"/>
              </a:rPr>
              <a:t>User  →  React Frontend  →  REST API  →  Express / Node Backend  →  Mongoose  →  MongoDB  →  Response  →  UI</a:t>
            </a:r>
            <a:endParaRPr lang="en-US" sz="1050" dirty="0"/>
          </a:p>
        </p:txBody>
      </p:sp>
      <p:sp>
        <p:nvSpPr>
          <p:cNvPr id="32" name="Shape 30"/>
          <p:cNvSpPr/>
          <p:nvPr/>
        </p:nvSpPr>
        <p:spPr>
          <a:xfrm>
            <a:off x="8686800" y="1783080"/>
            <a:ext cx="2971800" cy="4343400"/>
          </a:xfrm>
          <a:prstGeom prst="roundRect">
            <a:avLst>
              <a:gd name="adj" fmla="val 2462"/>
            </a:avLst>
          </a:prstGeom>
          <a:solidFill>
            <a:srgbClr val="0A2540"/>
          </a:solidFill>
          <a:ln w="12700">
            <a:solidFill>
              <a:srgbClr val="16344F"/>
            </a:solidFill>
            <a:prstDash val="solid"/>
          </a:ln>
        </p:spPr>
      </p:sp>
      <p:sp>
        <p:nvSpPr>
          <p:cNvPr id="33" name="Text 31"/>
          <p:cNvSpPr/>
          <p:nvPr/>
        </p:nvSpPr>
        <p:spPr>
          <a:xfrm>
            <a:off x="8915400" y="1965960"/>
            <a:ext cx="2514600" cy="320040"/>
          </a:xfrm>
          <a:prstGeom prst="rect">
            <a:avLst/>
          </a:prstGeom>
          <a:noFill/>
          <a:ln/>
        </p:spPr>
        <p:txBody>
          <a:bodyPr wrap="square" rtlCol="0" anchor="ctr"/>
          <a:lstStyle/>
          <a:p>
            <a:pPr indent="0" marL="0">
              <a:buNone/>
            </a:pPr>
            <a:r>
              <a:rPr lang="en-US" sz="1200" b="1" spc="100" kern="0" dirty="0">
                <a:solidFill>
                  <a:srgbClr val="00B8A9"/>
                </a:solidFill>
                <a:latin typeface="Calibri" pitchFamily="34" charset="0"/>
                <a:ea typeface="Calibri" pitchFamily="34" charset="-122"/>
                <a:cs typeface="Calibri" pitchFamily="34" charset="-120"/>
              </a:rPr>
              <a:t>ARCHITECTURE PRINCIPLES</a:t>
            </a:r>
            <a:endParaRPr lang="en-US" sz="1200" dirty="0"/>
          </a:p>
        </p:txBody>
      </p:sp>
      <p:sp>
        <p:nvSpPr>
          <p:cNvPr id="34" name="Text 32"/>
          <p:cNvSpPr/>
          <p:nvPr/>
        </p:nvSpPr>
        <p:spPr>
          <a:xfrm>
            <a:off x="8915400" y="2377440"/>
            <a:ext cx="2514600" cy="3566160"/>
          </a:xfrm>
          <a:prstGeom prst="rect">
            <a:avLst/>
          </a:prstGeom>
          <a:noFill/>
          <a:ln/>
        </p:spPr>
        <p:txBody>
          <a:bodyPr wrap="square" rtlCol="0" anchor="t"/>
          <a:lstStyle/>
          <a:p>
            <a:pPr marL="177800" indent="-177800">
              <a:spcAft>
                <a:spcPts val="1400"/>
              </a:spcAft>
              <a:buSzPct val="100000"/>
              <a:buChar char="•"/>
            </a:pPr>
            <a:r>
              <a:rPr lang="en-US" sz="1250" dirty="0">
                <a:solidFill>
                  <a:srgbClr val="DCE6F0"/>
                </a:solidFill>
                <a:latin typeface="Calibri" pitchFamily="34" charset="0"/>
                <a:ea typeface="Calibri" pitchFamily="34" charset="-122"/>
                <a:cs typeface="Calibri" pitchFamily="34" charset="-120"/>
              </a:rPr>
              <a:t>Separation of concerns</a:t>
            </a:r>
            <a:endParaRPr lang="en-US" sz="1250" dirty="0"/>
          </a:p>
          <a:p>
            <a:pPr marL="177800" indent="-177800">
              <a:spcAft>
                <a:spcPts val="1400"/>
              </a:spcAft>
              <a:buSzPct val="100000"/>
              <a:buChar char="•"/>
            </a:pPr>
            <a:r>
              <a:rPr lang="en-US" sz="1250" dirty="0">
                <a:solidFill>
                  <a:srgbClr val="DCE6F0"/>
                </a:solidFill>
                <a:latin typeface="Calibri" pitchFamily="34" charset="0"/>
                <a:ea typeface="Calibri" pitchFamily="34" charset="-122"/>
                <a:cs typeface="Calibri" pitchFamily="34" charset="-120"/>
              </a:rPr>
              <a:t>Structured data access</a:t>
            </a:r>
            <a:endParaRPr lang="en-US" sz="1250" dirty="0"/>
          </a:p>
          <a:p>
            <a:pPr marL="177800" indent="-177800">
              <a:spcAft>
                <a:spcPts val="1400"/>
              </a:spcAft>
              <a:buSzPct val="100000"/>
              <a:buChar char="•"/>
            </a:pPr>
            <a:r>
              <a:rPr lang="en-US" sz="1250" dirty="0">
                <a:solidFill>
                  <a:srgbClr val="DCE6F0"/>
                </a:solidFill>
                <a:latin typeface="Calibri" pitchFamily="34" charset="0"/>
                <a:ea typeface="Calibri" pitchFamily="34" charset="-122"/>
                <a:cs typeface="Calibri" pitchFamily="34" charset="-120"/>
              </a:rPr>
              <a:t>Secure authentication</a:t>
            </a:r>
            <a:endParaRPr lang="en-US" sz="1250" dirty="0"/>
          </a:p>
          <a:p>
            <a:pPr marL="177800" indent="-177800">
              <a:spcAft>
                <a:spcPts val="1400"/>
              </a:spcAft>
              <a:buSzPct val="100000"/>
              <a:buChar char="•"/>
            </a:pPr>
            <a:r>
              <a:rPr lang="en-US" sz="1250" dirty="0">
                <a:solidFill>
                  <a:srgbClr val="DCE6F0"/>
                </a:solidFill>
                <a:latin typeface="Calibri" pitchFamily="34" charset="0"/>
                <a:ea typeface="Calibri" pitchFamily="34" charset="-122"/>
                <a:cs typeface="Calibri" pitchFamily="34" charset="-120"/>
              </a:rPr>
              <a:t>Maintainable API layer</a:t>
            </a:r>
            <a:endParaRPr lang="en-US" sz="1250" dirty="0"/>
          </a:p>
          <a:p>
            <a:pPr marL="177800" indent="-177800">
              <a:spcAft>
                <a:spcPts val="1400"/>
              </a:spcAft>
              <a:buSzPct val="100000"/>
              <a:buChar char="•"/>
            </a:pPr>
            <a:r>
              <a:rPr lang="en-US" sz="1250" dirty="0">
                <a:solidFill>
                  <a:srgbClr val="DCE6F0"/>
                </a:solidFill>
                <a:latin typeface="Calibri" pitchFamily="34" charset="0"/>
                <a:ea typeface="Calibri" pitchFamily="34" charset="-122"/>
                <a:cs typeface="Calibri" pitchFamily="34" charset="-120"/>
              </a:rPr>
              <a:t>Centralized persistence</a:t>
            </a:r>
            <a:endParaRPr lang="en-US" sz="1250" dirty="0"/>
          </a:p>
        </p:txBody>
      </p:sp>
      <p:sp>
        <p:nvSpPr>
          <p:cNvPr id="36" name="Text 33"/>
          <p:cNvSpPr/>
          <p:nvPr/>
        </p:nvSpPr>
        <p:spPr>
          <a:xfrm>
            <a:off x="457200" y="6510528"/>
            <a:ext cx="8686800" cy="274320"/>
          </a:xfrm>
          <a:prstGeom prst="rect">
            <a:avLst/>
          </a:prstGeom>
          <a:noFill/>
          <a:ln/>
        </p:spPr>
        <p:txBody>
          <a:bodyPr wrap="square" rtlCol="0" anchor="ctr"/>
          <a:lstStyle/>
          <a:p>
            <a:pPr algn="l" indent="0" marL="0">
              <a:buNone/>
            </a:pPr>
            <a:r>
              <a:rPr lang="en-US" sz="900" dirty="0">
                <a:solidFill>
                  <a:srgbClr val="8FA3B8"/>
                </a:solidFill>
                <a:latin typeface="Calibri" pitchFamily="34" charset="0"/>
                <a:ea typeface="Calibri" pitchFamily="34" charset="-122"/>
                <a:cs typeface="Calibri" pitchFamily="34" charset="-120"/>
              </a:rPr>
              <a:t>Medicine Stock Management &amp; Analytics Portal  |  Project Review – 2</a:t>
            </a:r>
            <a:endParaRPr lang="en-US" sz="900" dirty="0"/>
          </a:p>
        </p:txBody>
      </p:sp>
      <p:sp>
        <p:nvSpPr>
          <p:cNvPr id="37" name="Text 34"/>
          <p:cNvSpPr/>
          <p:nvPr/>
        </p:nvSpPr>
        <p:spPr>
          <a:xfrm>
            <a:off x="11277295" y="6510528"/>
            <a:ext cx="457200" cy="274320"/>
          </a:xfrm>
          <a:prstGeom prst="rect">
            <a:avLst/>
          </a:prstGeom>
          <a:noFill/>
          <a:ln/>
        </p:spPr>
        <p:txBody>
          <a:bodyPr wrap="square"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00B8A9"/>
                </a:solidFill>
                <a:latin typeface="Calibri" pitchFamily="34" charset="0"/>
                <a:ea typeface="Calibri" pitchFamily="34" charset="-122"/>
                <a:cs typeface="Calibri" pitchFamily="34" charset="-120"/>
              </a:rPr>
              <a:t>DATABASE PERSPECTIVE</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Data Flow &amp; Database Perspective</a:t>
            </a:r>
            <a:endParaRPr lang="en-US" sz="3200" dirty="0"/>
          </a:p>
        </p:txBody>
      </p:sp>
      <p:sp>
        <p:nvSpPr>
          <p:cNvPr id="4" name="Shape 2"/>
          <p:cNvSpPr/>
          <p:nvPr/>
        </p:nvSpPr>
        <p:spPr>
          <a:xfrm>
            <a:off x="548640" y="1828800"/>
            <a:ext cx="1486553" cy="1051560"/>
          </a:xfrm>
          <a:prstGeom prst="roundRect">
            <a:avLst>
              <a:gd name="adj" fmla="val 6087"/>
            </a:avLst>
          </a:prstGeom>
          <a:solidFill>
            <a:srgbClr val="0A2540"/>
          </a:solidFill>
          <a:ln/>
        </p:spPr>
      </p:sp>
      <p:sp>
        <p:nvSpPr>
          <p:cNvPr id="5" name="Text 3"/>
          <p:cNvSpPr/>
          <p:nvPr/>
        </p:nvSpPr>
        <p:spPr>
          <a:xfrm>
            <a:off x="621792" y="1920240"/>
            <a:ext cx="1340249"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 Action</a:t>
            </a:r>
            <a:endParaRPr lang="en-US" sz="1100" dirty="0"/>
          </a:p>
        </p:txBody>
      </p:sp>
      <p:sp>
        <p:nvSpPr>
          <p:cNvPr id="6" name="Text 4"/>
          <p:cNvSpPr/>
          <p:nvPr/>
        </p:nvSpPr>
        <p:spPr>
          <a:xfrm>
            <a:off x="621792" y="2304288"/>
            <a:ext cx="1340249" cy="548640"/>
          </a:xfrm>
          <a:prstGeom prst="rect">
            <a:avLst/>
          </a:prstGeom>
          <a:noFill/>
          <a:ln/>
        </p:spPr>
        <p:txBody>
          <a:bodyPr wrap="square" lIns="0" tIns="0" rIns="0" bIns="0" rtlCol="0" anchor="ctr"/>
          <a:lstStyle/>
          <a:p>
            <a:pPr algn="ctr" indent="0" marL="0">
              <a:buNone/>
            </a:pPr>
            <a:r>
              <a:rPr lang="en-US" sz="780" dirty="0">
                <a:solidFill>
                  <a:srgbClr val="C9D7E5"/>
                </a:solidFill>
                <a:latin typeface="Calibri" pitchFamily="34" charset="0"/>
                <a:ea typeface="Calibri" pitchFamily="34" charset="-122"/>
                <a:cs typeface="Calibri" pitchFamily="34" charset="-120"/>
              </a:rPr>
              <a:t>Medicine / supplier / purchase / sale operation</a:t>
            </a:r>
            <a:endParaRPr lang="en-US" sz="780" dirty="0"/>
          </a:p>
        </p:txBody>
      </p:sp>
      <p:sp>
        <p:nvSpPr>
          <p:cNvPr id="7" name="Text 5"/>
          <p:cNvSpPr/>
          <p:nvPr/>
        </p:nvSpPr>
        <p:spPr>
          <a:xfrm>
            <a:off x="2035193" y="2148840"/>
            <a:ext cx="109728" cy="365760"/>
          </a:xfrm>
          <a:prstGeom prst="rect">
            <a:avLst/>
          </a:prstGeom>
          <a:noFill/>
          <a:ln/>
        </p:spPr>
        <p:txBody>
          <a:bodyPr wrap="square" lIns="0" tIns="0" rIns="0" bIns="0" rtlCol="0" anchor="ctr"/>
          <a:lstStyle/>
          <a:p>
            <a:pPr algn="ctr" indent="0" marL="0">
              <a:buNone/>
            </a:pPr>
            <a:r>
              <a:rPr lang="en-US" sz="1200" b="1" dirty="0">
                <a:solidFill>
                  <a:srgbClr val="00B8A9"/>
                </a:solidFill>
                <a:latin typeface="Calibri" pitchFamily="34" charset="0"/>
                <a:ea typeface="Calibri" pitchFamily="34" charset="-122"/>
                <a:cs typeface="Calibri" pitchFamily="34" charset="-120"/>
              </a:rPr>
              <a:t>→</a:t>
            </a:r>
            <a:endParaRPr lang="en-US" sz="1200" dirty="0"/>
          </a:p>
        </p:txBody>
      </p:sp>
      <p:sp>
        <p:nvSpPr>
          <p:cNvPr id="8" name="Shape 6"/>
          <p:cNvSpPr/>
          <p:nvPr/>
        </p:nvSpPr>
        <p:spPr>
          <a:xfrm>
            <a:off x="2144921" y="1828800"/>
            <a:ext cx="1486553" cy="1051560"/>
          </a:xfrm>
          <a:prstGeom prst="roundRect">
            <a:avLst>
              <a:gd name="adj" fmla="val 6087"/>
            </a:avLst>
          </a:prstGeom>
          <a:solidFill>
            <a:srgbClr val="0A2540"/>
          </a:solidFill>
          <a:ln/>
        </p:spPr>
      </p:sp>
      <p:sp>
        <p:nvSpPr>
          <p:cNvPr id="9" name="Text 7"/>
          <p:cNvSpPr/>
          <p:nvPr/>
        </p:nvSpPr>
        <p:spPr>
          <a:xfrm>
            <a:off x="2218073" y="1920240"/>
            <a:ext cx="1340249"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React Interface</a:t>
            </a:r>
            <a:endParaRPr lang="en-US" sz="1100" dirty="0"/>
          </a:p>
        </p:txBody>
      </p:sp>
      <p:sp>
        <p:nvSpPr>
          <p:cNvPr id="10" name="Text 8"/>
          <p:cNvSpPr/>
          <p:nvPr/>
        </p:nvSpPr>
        <p:spPr>
          <a:xfrm>
            <a:off x="2218073" y="2304288"/>
            <a:ext cx="1340249" cy="548640"/>
          </a:xfrm>
          <a:prstGeom prst="rect">
            <a:avLst/>
          </a:prstGeom>
          <a:noFill/>
          <a:ln/>
        </p:spPr>
        <p:txBody>
          <a:bodyPr wrap="square" lIns="0" tIns="0" rIns="0" bIns="0" rtlCol="0" anchor="ctr"/>
          <a:lstStyle/>
          <a:p>
            <a:pPr algn="ctr" indent="0" marL="0">
              <a:buNone/>
            </a:pPr>
            <a:r>
              <a:rPr lang="en-US" sz="780" dirty="0">
                <a:solidFill>
                  <a:srgbClr val="C9D7E5"/>
                </a:solidFill>
                <a:latin typeface="Calibri" pitchFamily="34" charset="0"/>
                <a:ea typeface="Calibri" pitchFamily="34" charset="-122"/>
                <a:cs typeface="Calibri" pitchFamily="34" charset="-120"/>
              </a:rPr>
              <a:t>Captures and sends user request</a:t>
            </a:r>
            <a:endParaRPr lang="en-US" sz="780" dirty="0"/>
          </a:p>
        </p:txBody>
      </p:sp>
      <p:sp>
        <p:nvSpPr>
          <p:cNvPr id="11" name="Text 9"/>
          <p:cNvSpPr/>
          <p:nvPr/>
        </p:nvSpPr>
        <p:spPr>
          <a:xfrm>
            <a:off x="3631474" y="2148840"/>
            <a:ext cx="109728" cy="365760"/>
          </a:xfrm>
          <a:prstGeom prst="rect">
            <a:avLst/>
          </a:prstGeom>
          <a:noFill/>
          <a:ln/>
        </p:spPr>
        <p:txBody>
          <a:bodyPr wrap="square" lIns="0" tIns="0" rIns="0" bIns="0" rtlCol="0" anchor="ctr"/>
          <a:lstStyle/>
          <a:p>
            <a:pPr algn="ctr" indent="0" marL="0">
              <a:buNone/>
            </a:pPr>
            <a:r>
              <a:rPr lang="en-US" sz="1200" b="1" dirty="0">
                <a:solidFill>
                  <a:srgbClr val="00B8A9"/>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3741202" y="1828800"/>
            <a:ext cx="1486553" cy="1051560"/>
          </a:xfrm>
          <a:prstGeom prst="roundRect">
            <a:avLst>
              <a:gd name="adj" fmla="val 6087"/>
            </a:avLst>
          </a:prstGeom>
          <a:solidFill>
            <a:srgbClr val="0A2540"/>
          </a:solidFill>
          <a:ln/>
        </p:spPr>
      </p:sp>
      <p:sp>
        <p:nvSpPr>
          <p:cNvPr id="13" name="Text 11"/>
          <p:cNvSpPr/>
          <p:nvPr/>
        </p:nvSpPr>
        <p:spPr>
          <a:xfrm>
            <a:off x="3814354" y="1920240"/>
            <a:ext cx="1340249"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RESTful API</a:t>
            </a:r>
            <a:endParaRPr lang="en-US" sz="1100" dirty="0"/>
          </a:p>
        </p:txBody>
      </p:sp>
      <p:sp>
        <p:nvSpPr>
          <p:cNvPr id="14" name="Text 12"/>
          <p:cNvSpPr/>
          <p:nvPr/>
        </p:nvSpPr>
        <p:spPr>
          <a:xfrm>
            <a:off x="3814354" y="2304288"/>
            <a:ext cx="1340249" cy="548640"/>
          </a:xfrm>
          <a:prstGeom prst="rect">
            <a:avLst/>
          </a:prstGeom>
          <a:noFill/>
          <a:ln/>
        </p:spPr>
        <p:txBody>
          <a:bodyPr wrap="square" lIns="0" tIns="0" rIns="0" bIns="0" rtlCol="0" anchor="ctr"/>
          <a:lstStyle/>
          <a:p>
            <a:pPr algn="ctr" indent="0" marL="0">
              <a:buNone/>
            </a:pPr>
            <a:r>
              <a:rPr lang="en-US" sz="780" dirty="0">
                <a:solidFill>
                  <a:srgbClr val="C9D7E5"/>
                </a:solidFill>
                <a:latin typeface="Calibri" pitchFamily="34" charset="0"/>
                <a:ea typeface="Calibri" pitchFamily="34" charset="-122"/>
                <a:cs typeface="Calibri" pitchFamily="34" charset="-120"/>
              </a:rPr>
              <a:t>Express.js receives the request</a:t>
            </a:r>
            <a:endParaRPr lang="en-US" sz="780" dirty="0"/>
          </a:p>
        </p:txBody>
      </p:sp>
      <p:sp>
        <p:nvSpPr>
          <p:cNvPr id="15" name="Text 13"/>
          <p:cNvSpPr/>
          <p:nvPr/>
        </p:nvSpPr>
        <p:spPr>
          <a:xfrm>
            <a:off x="5227755" y="2148840"/>
            <a:ext cx="109728" cy="365760"/>
          </a:xfrm>
          <a:prstGeom prst="rect">
            <a:avLst/>
          </a:prstGeom>
          <a:noFill/>
          <a:ln/>
        </p:spPr>
        <p:txBody>
          <a:bodyPr wrap="square" lIns="0" tIns="0" rIns="0" bIns="0" rtlCol="0" anchor="ctr"/>
          <a:lstStyle/>
          <a:p>
            <a:pPr algn="ctr" indent="0" marL="0">
              <a:buNone/>
            </a:pPr>
            <a:r>
              <a:rPr lang="en-US" sz="1200" b="1" dirty="0">
                <a:solidFill>
                  <a:srgbClr val="00B8A9"/>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5337483" y="1828800"/>
            <a:ext cx="1486553" cy="1051560"/>
          </a:xfrm>
          <a:prstGeom prst="roundRect">
            <a:avLst>
              <a:gd name="adj" fmla="val 6087"/>
            </a:avLst>
          </a:prstGeom>
          <a:solidFill>
            <a:srgbClr val="0A2540"/>
          </a:solidFill>
          <a:ln/>
        </p:spPr>
      </p:sp>
      <p:sp>
        <p:nvSpPr>
          <p:cNvPr id="17" name="Text 15"/>
          <p:cNvSpPr/>
          <p:nvPr/>
        </p:nvSpPr>
        <p:spPr>
          <a:xfrm>
            <a:off x="5410635" y="1920240"/>
            <a:ext cx="1340249"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Business Logic</a:t>
            </a:r>
            <a:endParaRPr lang="en-US" sz="1100" dirty="0"/>
          </a:p>
        </p:txBody>
      </p:sp>
      <p:sp>
        <p:nvSpPr>
          <p:cNvPr id="18" name="Text 16"/>
          <p:cNvSpPr/>
          <p:nvPr/>
        </p:nvSpPr>
        <p:spPr>
          <a:xfrm>
            <a:off x="5410635" y="2304288"/>
            <a:ext cx="1340249" cy="548640"/>
          </a:xfrm>
          <a:prstGeom prst="rect">
            <a:avLst/>
          </a:prstGeom>
          <a:noFill/>
          <a:ln/>
        </p:spPr>
        <p:txBody>
          <a:bodyPr wrap="square" lIns="0" tIns="0" rIns="0" bIns="0" rtlCol="0" anchor="ctr"/>
          <a:lstStyle/>
          <a:p>
            <a:pPr algn="ctr" indent="0" marL="0">
              <a:buNone/>
            </a:pPr>
            <a:r>
              <a:rPr lang="en-US" sz="780" dirty="0">
                <a:solidFill>
                  <a:srgbClr val="C9D7E5"/>
                </a:solidFill>
                <a:latin typeface="Calibri" pitchFamily="34" charset="0"/>
                <a:ea typeface="Calibri" pitchFamily="34" charset="-122"/>
                <a:cs typeface="Calibri" pitchFamily="34" charset="-120"/>
              </a:rPr>
              <a:t>Validation + authorization + inventory operations</a:t>
            </a:r>
            <a:endParaRPr lang="en-US" sz="780" dirty="0"/>
          </a:p>
        </p:txBody>
      </p:sp>
      <p:sp>
        <p:nvSpPr>
          <p:cNvPr id="19" name="Text 17"/>
          <p:cNvSpPr/>
          <p:nvPr/>
        </p:nvSpPr>
        <p:spPr>
          <a:xfrm>
            <a:off x="6824037" y="2148840"/>
            <a:ext cx="109728" cy="365760"/>
          </a:xfrm>
          <a:prstGeom prst="rect">
            <a:avLst/>
          </a:prstGeom>
          <a:noFill/>
          <a:ln/>
        </p:spPr>
        <p:txBody>
          <a:bodyPr wrap="square" lIns="0" tIns="0" rIns="0" bIns="0" rtlCol="0" anchor="ctr"/>
          <a:lstStyle/>
          <a:p>
            <a:pPr algn="ctr" indent="0" marL="0">
              <a:buNone/>
            </a:pPr>
            <a:r>
              <a:rPr lang="en-US" sz="1200" b="1" dirty="0">
                <a:solidFill>
                  <a:srgbClr val="00B8A9"/>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6933765" y="1828800"/>
            <a:ext cx="1486553" cy="1051560"/>
          </a:xfrm>
          <a:prstGeom prst="roundRect">
            <a:avLst>
              <a:gd name="adj" fmla="val 6087"/>
            </a:avLst>
          </a:prstGeom>
          <a:solidFill>
            <a:srgbClr val="0A2540"/>
          </a:solidFill>
          <a:ln/>
        </p:spPr>
      </p:sp>
      <p:sp>
        <p:nvSpPr>
          <p:cNvPr id="21" name="Text 19"/>
          <p:cNvSpPr/>
          <p:nvPr/>
        </p:nvSpPr>
        <p:spPr>
          <a:xfrm>
            <a:off x="7006917" y="1920240"/>
            <a:ext cx="1340249"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Mongoose</a:t>
            </a:r>
            <a:endParaRPr lang="en-US" sz="1100" dirty="0"/>
          </a:p>
        </p:txBody>
      </p:sp>
      <p:sp>
        <p:nvSpPr>
          <p:cNvPr id="22" name="Text 20"/>
          <p:cNvSpPr/>
          <p:nvPr/>
        </p:nvSpPr>
        <p:spPr>
          <a:xfrm>
            <a:off x="7006917" y="2304288"/>
            <a:ext cx="1340249" cy="548640"/>
          </a:xfrm>
          <a:prstGeom prst="rect">
            <a:avLst/>
          </a:prstGeom>
          <a:noFill/>
          <a:ln/>
        </p:spPr>
        <p:txBody>
          <a:bodyPr wrap="square" lIns="0" tIns="0" rIns="0" bIns="0" rtlCol="0" anchor="ctr"/>
          <a:lstStyle/>
          <a:p>
            <a:pPr algn="ctr" indent="0" marL="0">
              <a:buNone/>
            </a:pPr>
            <a:r>
              <a:rPr lang="en-US" sz="780" dirty="0">
                <a:solidFill>
                  <a:srgbClr val="C9D7E5"/>
                </a:solidFill>
                <a:latin typeface="Calibri" pitchFamily="34" charset="0"/>
                <a:ea typeface="Calibri" pitchFamily="34" charset="-122"/>
                <a:cs typeface="Calibri" pitchFamily="34" charset="-120"/>
              </a:rPr>
              <a:t>ODM — structures MongoDB data access</a:t>
            </a:r>
            <a:endParaRPr lang="en-US" sz="780" dirty="0"/>
          </a:p>
        </p:txBody>
      </p:sp>
      <p:sp>
        <p:nvSpPr>
          <p:cNvPr id="23" name="Text 21"/>
          <p:cNvSpPr/>
          <p:nvPr/>
        </p:nvSpPr>
        <p:spPr>
          <a:xfrm>
            <a:off x="8420318" y="2148840"/>
            <a:ext cx="109728" cy="365760"/>
          </a:xfrm>
          <a:prstGeom prst="rect">
            <a:avLst/>
          </a:prstGeom>
          <a:noFill/>
          <a:ln/>
        </p:spPr>
        <p:txBody>
          <a:bodyPr wrap="square" lIns="0" tIns="0" rIns="0" bIns="0" rtlCol="0" anchor="ctr"/>
          <a:lstStyle/>
          <a:p>
            <a:pPr algn="ctr" indent="0" marL="0">
              <a:buNone/>
            </a:pPr>
            <a:r>
              <a:rPr lang="en-US" sz="1200" b="1" dirty="0">
                <a:solidFill>
                  <a:srgbClr val="00B8A9"/>
                </a:solidFill>
                <a:latin typeface="Calibri" pitchFamily="34" charset="0"/>
                <a:ea typeface="Calibri" pitchFamily="34" charset="-122"/>
                <a:cs typeface="Calibri" pitchFamily="34" charset="-120"/>
              </a:rPr>
              <a:t>→</a:t>
            </a:r>
            <a:endParaRPr lang="en-US" sz="1200" dirty="0"/>
          </a:p>
        </p:txBody>
      </p:sp>
      <p:sp>
        <p:nvSpPr>
          <p:cNvPr id="24" name="Shape 22"/>
          <p:cNvSpPr/>
          <p:nvPr/>
        </p:nvSpPr>
        <p:spPr>
          <a:xfrm>
            <a:off x="8530046" y="1828800"/>
            <a:ext cx="1486553" cy="1051560"/>
          </a:xfrm>
          <a:prstGeom prst="roundRect">
            <a:avLst>
              <a:gd name="adj" fmla="val 6087"/>
            </a:avLst>
          </a:prstGeom>
          <a:solidFill>
            <a:srgbClr val="0A2540"/>
          </a:solidFill>
          <a:ln w="25400">
            <a:solidFill>
              <a:srgbClr val="00D4FF"/>
            </a:solidFill>
            <a:prstDash val="solid"/>
          </a:ln>
        </p:spPr>
      </p:sp>
      <p:sp>
        <p:nvSpPr>
          <p:cNvPr id="25" name="Shape 23"/>
          <p:cNvSpPr/>
          <p:nvPr/>
        </p:nvSpPr>
        <p:spPr>
          <a:xfrm>
            <a:off x="9099586" y="1655064"/>
            <a:ext cx="347472" cy="347472"/>
          </a:xfrm>
          <a:prstGeom prst="ellipse">
            <a:avLst/>
          </a:prstGeom>
          <a:solidFill>
            <a:srgbClr val="00D4FF"/>
          </a:solidFill>
          <a:ln/>
        </p:spPr>
      </p:sp>
      <p:sp>
        <p:nvSpPr>
          <p:cNvPr id="26" name="Text 24"/>
          <p:cNvSpPr/>
          <p:nvPr/>
        </p:nvSpPr>
        <p:spPr>
          <a:xfrm>
            <a:off x="9099586" y="1655064"/>
            <a:ext cx="347472" cy="347472"/>
          </a:xfrm>
          <a:prstGeom prst="rect">
            <a:avLst/>
          </a:prstGeom>
          <a:noFill/>
          <a:ln/>
        </p:spPr>
        <p:txBody>
          <a:bodyPr wrap="square" lIns="0" tIns="0" rIns="0" bIns="0" rtlCol="0" anchor="ctr"/>
          <a:lstStyle/>
          <a:p>
            <a:pPr algn="ctr" indent="0" marL="0">
              <a:buNone/>
            </a:pPr>
            <a:r>
              <a:rPr lang="en-US" sz="900" b="1" dirty="0">
                <a:solidFill>
                  <a:srgbClr val="071A2B"/>
                </a:solidFill>
                <a:latin typeface="Calibri" pitchFamily="34" charset="0"/>
                <a:ea typeface="Calibri" pitchFamily="34" charset="-122"/>
                <a:cs typeface="Calibri" pitchFamily="34" charset="-120"/>
              </a:rPr>
              <a:t>DB</a:t>
            </a:r>
            <a:endParaRPr lang="en-US" sz="900" dirty="0"/>
          </a:p>
        </p:txBody>
      </p:sp>
      <p:sp>
        <p:nvSpPr>
          <p:cNvPr id="27" name="Text 25"/>
          <p:cNvSpPr/>
          <p:nvPr/>
        </p:nvSpPr>
        <p:spPr>
          <a:xfrm>
            <a:off x="8603198" y="1920240"/>
            <a:ext cx="1340249"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MongoDB</a:t>
            </a:r>
            <a:endParaRPr lang="en-US" sz="1100" dirty="0"/>
          </a:p>
        </p:txBody>
      </p:sp>
      <p:sp>
        <p:nvSpPr>
          <p:cNvPr id="28" name="Text 26"/>
          <p:cNvSpPr/>
          <p:nvPr/>
        </p:nvSpPr>
        <p:spPr>
          <a:xfrm>
            <a:off x="8603198" y="2304288"/>
            <a:ext cx="1340249" cy="548640"/>
          </a:xfrm>
          <a:prstGeom prst="rect">
            <a:avLst/>
          </a:prstGeom>
          <a:noFill/>
          <a:ln/>
        </p:spPr>
        <p:txBody>
          <a:bodyPr wrap="square" lIns="0" tIns="0" rIns="0" bIns="0" rtlCol="0" anchor="ctr"/>
          <a:lstStyle/>
          <a:p>
            <a:pPr algn="ctr" indent="0" marL="0">
              <a:buNone/>
            </a:pPr>
            <a:r>
              <a:rPr lang="en-US" sz="780" dirty="0">
                <a:solidFill>
                  <a:srgbClr val="C9D7E5"/>
                </a:solidFill>
                <a:latin typeface="Calibri" pitchFamily="34" charset="0"/>
                <a:ea typeface="Calibri" pitchFamily="34" charset="-122"/>
                <a:cs typeface="Calibri" pitchFamily="34" charset="-120"/>
              </a:rPr>
              <a:t>Persistent document database</a:t>
            </a:r>
            <a:endParaRPr lang="en-US" sz="780" dirty="0"/>
          </a:p>
        </p:txBody>
      </p:sp>
      <p:sp>
        <p:nvSpPr>
          <p:cNvPr id="29" name="Text 27"/>
          <p:cNvSpPr/>
          <p:nvPr/>
        </p:nvSpPr>
        <p:spPr>
          <a:xfrm>
            <a:off x="10016599" y="2148840"/>
            <a:ext cx="109728" cy="365760"/>
          </a:xfrm>
          <a:prstGeom prst="rect">
            <a:avLst/>
          </a:prstGeom>
          <a:noFill/>
          <a:ln/>
        </p:spPr>
        <p:txBody>
          <a:bodyPr wrap="square" lIns="0" tIns="0" rIns="0" bIns="0" rtlCol="0" anchor="ctr"/>
          <a:lstStyle/>
          <a:p>
            <a:pPr algn="ctr" indent="0" marL="0">
              <a:buNone/>
            </a:pPr>
            <a:r>
              <a:rPr lang="en-US" sz="1200" b="1" dirty="0">
                <a:solidFill>
                  <a:srgbClr val="00B8A9"/>
                </a:solidFill>
                <a:latin typeface="Calibri" pitchFamily="34" charset="0"/>
                <a:ea typeface="Calibri" pitchFamily="34" charset="-122"/>
                <a:cs typeface="Calibri" pitchFamily="34" charset="-120"/>
              </a:rPr>
              <a:t>→</a:t>
            </a:r>
            <a:endParaRPr lang="en-US" sz="1200" dirty="0"/>
          </a:p>
        </p:txBody>
      </p:sp>
      <p:sp>
        <p:nvSpPr>
          <p:cNvPr id="30" name="Shape 28"/>
          <p:cNvSpPr/>
          <p:nvPr/>
        </p:nvSpPr>
        <p:spPr>
          <a:xfrm>
            <a:off x="10126327" y="1828800"/>
            <a:ext cx="1486553" cy="1051560"/>
          </a:xfrm>
          <a:prstGeom prst="roundRect">
            <a:avLst>
              <a:gd name="adj" fmla="val 6087"/>
            </a:avLst>
          </a:prstGeom>
          <a:solidFill>
            <a:srgbClr val="00B8A9"/>
          </a:solidFill>
          <a:ln/>
        </p:spPr>
      </p:sp>
      <p:sp>
        <p:nvSpPr>
          <p:cNvPr id="31" name="Text 29"/>
          <p:cNvSpPr/>
          <p:nvPr/>
        </p:nvSpPr>
        <p:spPr>
          <a:xfrm>
            <a:off x="10199479" y="1920240"/>
            <a:ext cx="1340249"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Response</a:t>
            </a:r>
            <a:endParaRPr lang="en-US" sz="1100" dirty="0"/>
          </a:p>
        </p:txBody>
      </p:sp>
      <p:sp>
        <p:nvSpPr>
          <p:cNvPr id="32" name="Text 30"/>
          <p:cNvSpPr/>
          <p:nvPr/>
        </p:nvSpPr>
        <p:spPr>
          <a:xfrm>
            <a:off x="10199479" y="2304288"/>
            <a:ext cx="1340249" cy="548640"/>
          </a:xfrm>
          <a:prstGeom prst="rect">
            <a:avLst/>
          </a:prstGeom>
          <a:noFill/>
          <a:ln/>
        </p:spPr>
        <p:txBody>
          <a:bodyPr wrap="square" lIns="0" tIns="0" rIns="0" bIns="0" rtlCol="0" anchor="ctr"/>
          <a:lstStyle/>
          <a:p>
            <a:pPr algn="ctr" indent="0" marL="0">
              <a:buNone/>
            </a:pPr>
            <a:r>
              <a:rPr lang="en-US" sz="780" dirty="0">
                <a:solidFill>
                  <a:srgbClr val="C9D7E5"/>
                </a:solidFill>
                <a:latin typeface="Calibri" pitchFamily="34" charset="0"/>
                <a:ea typeface="Calibri" pitchFamily="34" charset="-122"/>
                <a:cs typeface="Calibri" pitchFamily="34" charset="-120"/>
              </a:rPr>
              <a:t>Updated data returned to the React interface</a:t>
            </a:r>
            <a:endParaRPr lang="en-US" sz="780" dirty="0"/>
          </a:p>
        </p:txBody>
      </p:sp>
      <p:sp>
        <p:nvSpPr>
          <p:cNvPr id="33" name="Text 31"/>
          <p:cNvSpPr/>
          <p:nvPr/>
        </p:nvSpPr>
        <p:spPr>
          <a:xfrm>
            <a:off x="548640" y="3246120"/>
            <a:ext cx="5486400" cy="320040"/>
          </a:xfrm>
          <a:prstGeom prst="rect">
            <a:avLst/>
          </a:prstGeom>
          <a:noFill/>
          <a:ln/>
        </p:spPr>
        <p:txBody>
          <a:bodyPr wrap="square" rtlCol="0" anchor="ctr"/>
          <a:lstStyle/>
          <a:p>
            <a:pPr indent="0" marL="0">
              <a:buNone/>
            </a:pPr>
            <a:r>
              <a:rPr lang="en-US" sz="1300" b="1" spc="100" kern="0" dirty="0">
                <a:solidFill>
                  <a:srgbClr val="52606D"/>
                </a:solidFill>
                <a:latin typeface="Calibri" pitchFamily="34" charset="0"/>
                <a:ea typeface="Calibri" pitchFamily="34" charset="-122"/>
                <a:cs typeface="Calibri" pitchFamily="34" charset="-120"/>
              </a:rPr>
              <a:t>CORE DATA ENTITIES</a:t>
            </a:r>
            <a:endParaRPr lang="en-US" sz="1300" dirty="0"/>
          </a:p>
        </p:txBody>
      </p:sp>
      <p:sp>
        <p:nvSpPr>
          <p:cNvPr id="34" name="Shape 32"/>
          <p:cNvSpPr/>
          <p:nvPr/>
        </p:nvSpPr>
        <p:spPr>
          <a:xfrm>
            <a:off x="548640" y="3611880"/>
            <a:ext cx="2697480" cy="1691640"/>
          </a:xfrm>
          <a:prstGeom prst="roundRect">
            <a:avLst>
              <a:gd name="adj" fmla="val 4324"/>
            </a:avLst>
          </a:prstGeom>
          <a:solidFill>
            <a:srgbClr val="FFFFFF"/>
          </a:solidFill>
          <a:ln w="12700">
            <a:solidFill>
              <a:srgbClr val="D9E2EC"/>
            </a:solidFill>
            <a:prstDash val="solid"/>
          </a:ln>
        </p:spPr>
      </p:sp>
      <p:sp>
        <p:nvSpPr>
          <p:cNvPr id="35" name="Shape 33"/>
          <p:cNvSpPr/>
          <p:nvPr/>
        </p:nvSpPr>
        <p:spPr>
          <a:xfrm>
            <a:off x="731520" y="3794760"/>
            <a:ext cx="457200" cy="365760"/>
          </a:xfrm>
          <a:prstGeom prst="roundRect">
            <a:avLst>
              <a:gd name="adj" fmla="val 12500"/>
            </a:avLst>
          </a:prstGeom>
          <a:solidFill>
            <a:srgbClr val="0A2540"/>
          </a:solidFill>
          <a:ln/>
        </p:spPr>
      </p:sp>
      <p:sp>
        <p:nvSpPr>
          <p:cNvPr id="36" name="Text 34"/>
          <p:cNvSpPr/>
          <p:nvPr/>
        </p:nvSpPr>
        <p:spPr>
          <a:xfrm>
            <a:off x="731520" y="3794760"/>
            <a:ext cx="457200" cy="36576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DB</a:t>
            </a:r>
            <a:endParaRPr lang="en-US" sz="1000" dirty="0"/>
          </a:p>
        </p:txBody>
      </p:sp>
      <p:sp>
        <p:nvSpPr>
          <p:cNvPr id="37" name="Text 35"/>
          <p:cNvSpPr/>
          <p:nvPr/>
        </p:nvSpPr>
        <p:spPr>
          <a:xfrm>
            <a:off x="731520" y="4233672"/>
            <a:ext cx="233172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Medicine</a:t>
            </a:r>
            <a:endParaRPr lang="en-US" sz="1400" dirty="0"/>
          </a:p>
        </p:txBody>
      </p:sp>
      <p:sp>
        <p:nvSpPr>
          <p:cNvPr id="38" name="Text 36"/>
          <p:cNvSpPr/>
          <p:nvPr/>
        </p:nvSpPr>
        <p:spPr>
          <a:xfrm>
            <a:off x="731520" y="4572000"/>
            <a:ext cx="2331720" cy="640080"/>
          </a:xfrm>
          <a:prstGeom prst="rect">
            <a:avLst/>
          </a:prstGeom>
          <a:noFill/>
          <a:ln/>
        </p:spPr>
        <p:txBody>
          <a:bodyPr wrap="square" rtlCol="0" anchor="t"/>
          <a:lstStyle/>
          <a:p>
            <a:pPr indent="0" marL="0">
              <a:buNone/>
            </a:pPr>
            <a:r>
              <a:rPr lang="en-US" sz="1050" dirty="0">
                <a:solidFill>
                  <a:srgbClr val="52606D"/>
                </a:solidFill>
                <a:latin typeface="Calibri" pitchFamily="34" charset="0"/>
                <a:ea typeface="Calibri" pitchFamily="34" charset="-122"/>
                <a:cs typeface="Calibri" pitchFamily="34" charset="-120"/>
              </a:rPr>
              <a:t>Name • Generic Name • Category • Price • Reorder Level</a:t>
            </a:r>
            <a:endParaRPr lang="en-US" sz="1050" dirty="0"/>
          </a:p>
        </p:txBody>
      </p:sp>
      <p:sp>
        <p:nvSpPr>
          <p:cNvPr id="39" name="Shape 37"/>
          <p:cNvSpPr/>
          <p:nvPr/>
        </p:nvSpPr>
        <p:spPr>
          <a:xfrm>
            <a:off x="3474720" y="3611880"/>
            <a:ext cx="2697480" cy="1691640"/>
          </a:xfrm>
          <a:prstGeom prst="roundRect">
            <a:avLst>
              <a:gd name="adj" fmla="val 4324"/>
            </a:avLst>
          </a:prstGeom>
          <a:solidFill>
            <a:srgbClr val="FFFFFF"/>
          </a:solidFill>
          <a:ln w="12700">
            <a:solidFill>
              <a:srgbClr val="D9E2EC"/>
            </a:solidFill>
            <a:prstDash val="solid"/>
          </a:ln>
        </p:spPr>
      </p:sp>
      <p:sp>
        <p:nvSpPr>
          <p:cNvPr id="40" name="Shape 38"/>
          <p:cNvSpPr/>
          <p:nvPr/>
        </p:nvSpPr>
        <p:spPr>
          <a:xfrm>
            <a:off x="3657600" y="3794760"/>
            <a:ext cx="457200" cy="365760"/>
          </a:xfrm>
          <a:prstGeom prst="roundRect">
            <a:avLst>
              <a:gd name="adj" fmla="val 12500"/>
            </a:avLst>
          </a:prstGeom>
          <a:solidFill>
            <a:srgbClr val="0A2540"/>
          </a:solidFill>
          <a:ln/>
        </p:spPr>
      </p:sp>
      <p:sp>
        <p:nvSpPr>
          <p:cNvPr id="41" name="Text 39"/>
          <p:cNvSpPr/>
          <p:nvPr/>
        </p:nvSpPr>
        <p:spPr>
          <a:xfrm>
            <a:off x="3657600" y="3794760"/>
            <a:ext cx="457200" cy="36576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DB</a:t>
            </a:r>
            <a:endParaRPr lang="en-US" sz="1000" dirty="0"/>
          </a:p>
        </p:txBody>
      </p:sp>
      <p:sp>
        <p:nvSpPr>
          <p:cNvPr id="42" name="Text 40"/>
          <p:cNvSpPr/>
          <p:nvPr/>
        </p:nvSpPr>
        <p:spPr>
          <a:xfrm>
            <a:off x="3657600" y="4233672"/>
            <a:ext cx="233172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Supplier</a:t>
            </a:r>
            <a:endParaRPr lang="en-US" sz="1400" dirty="0"/>
          </a:p>
        </p:txBody>
      </p:sp>
      <p:sp>
        <p:nvSpPr>
          <p:cNvPr id="43" name="Text 41"/>
          <p:cNvSpPr/>
          <p:nvPr/>
        </p:nvSpPr>
        <p:spPr>
          <a:xfrm>
            <a:off x="3657600" y="4572000"/>
            <a:ext cx="2331720" cy="640080"/>
          </a:xfrm>
          <a:prstGeom prst="rect">
            <a:avLst/>
          </a:prstGeom>
          <a:noFill/>
          <a:ln/>
        </p:spPr>
        <p:txBody>
          <a:bodyPr wrap="square" rtlCol="0" anchor="t"/>
          <a:lstStyle/>
          <a:p>
            <a:pPr indent="0" marL="0">
              <a:buNone/>
            </a:pPr>
            <a:r>
              <a:rPr lang="en-US" sz="1050" dirty="0">
                <a:solidFill>
                  <a:srgbClr val="52606D"/>
                </a:solidFill>
                <a:latin typeface="Calibri" pitchFamily="34" charset="0"/>
                <a:ea typeface="Calibri" pitchFamily="34" charset="-122"/>
                <a:cs typeface="Calibri" pitchFamily="34" charset="-120"/>
              </a:rPr>
              <a:t>Supplier details • Contact information</a:t>
            </a:r>
            <a:endParaRPr lang="en-US" sz="1050" dirty="0"/>
          </a:p>
        </p:txBody>
      </p:sp>
      <p:sp>
        <p:nvSpPr>
          <p:cNvPr id="44" name="Shape 42"/>
          <p:cNvSpPr/>
          <p:nvPr/>
        </p:nvSpPr>
        <p:spPr>
          <a:xfrm>
            <a:off x="6400800" y="3611880"/>
            <a:ext cx="2697480" cy="1691640"/>
          </a:xfrm>
          <a:prstGeom prst="roundRect">
            <a:avLst>
              <a:gd name="adj" fmla="val 4324"/>
            </a:avLst>
          </a:prstGeom>
          <a:solidFill>
            <a:srgbClr val="FFFFFF"/>
          </a:solidFill>
          <a:ln w="12700">
            <a:solidFill>
              <a:srgbClr val="D9E2EC"/>
            </a:solidFill>
            <a:prstDash val="solid"/>
          </a:ln>
        </p:spPr>
      </p:sp>
      <p:sp>
        <p:nvSpPr>
          <p:cNvPr id="45" name="Shape 43"/>
          <p:cNvSpPr/>
          <p:nvPr/>
        </p:nvSpPr>
        <p:spPr>
          <a:xfrm>
            <a:off x="6583680" y="3794760"/>
            <a:ext cx="457200" cy="365760"/>
          </a:xfrm>
          <a:prstGeom prst="roundRect">
            <a:avLst>
              <a:gd name="adj" fmla="val 12500"/>
            </a:avLst>
          </a:prstGeom>
          <a:solidFill>
            <a:srgbClr val="0A2540"/>
          </a:solidFill>
          <a:ln/>
        </p:spPr>
      </p:sp>
      <p:sp>
        <p:nvSpPr>
          <p:cNvPr id="46" name="Text 44"/>
          <p:cNvSpPr/>
          <p:nvPr/>
        </p:nvSpPr>
        <p:spPr>
          <a:xfrm>
            <a:off x="6583680" y="3794760"/>
            <a:ext cx="457200" cy="36576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DB</a:t>
            </a:r>
            <a:endParaRPr lang="en-US" sz="1000" dirty="0"/>
          </a:p>
        </p:txBody>
      </p:sp>
      <p:sp>
        <p:nvSpPr>
          <p:cNvPr id="47" name="Text 45"/>
          <p:cNvSpPr/>
          <p:nvPr/>
        </p:nvSpPr>
        <p:spPr>
          <a:xfrm>
            <a:off x="6583680" y="4233672"/>
            <a:ext cx="233172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Batch</a:t>
            </a:r>
            <a:endParaRPr lang="en-US" sz="1400" dirty="0"/>
          </a:p>
        </p:txBody>
      </p:sp>
      <p:sp>
        <p:nvSpPr>
          <p:cNvPr id="48" name="Text 46"/>
          <p:cNvSpPr/>
          <p:nvPr/>
        </p:nvSpPr>
        <p:spPr>
          <a:xfrm>
            <a:off x="6583680" y="4572000"/>
            <a:ext cx="2331720" cy="640080"/>
          </a:xfrm>
          <a:prstGeom prst="rect">
            <a:avLst/>
          </a:prstGeom>
          <a:noFill/>
          <a:ln/>
        </p:spPr>
        <p:txBody>
          <a:bodyPr wrap="square" rtlCol="0" anchor="t"/>
          <a:lstStyle/>
          <a:p>
            <a:pPr indent="0" marL="0">
              <a:buNone/>
            </a:pPr>
            <a:r>
              <a:rPr lang="en-US" sz="1050" dirty="0">
                <a:solidFill>
                  <a:srgbClr val="52606D"/>
                </a:solidFill>
                <a:latin typeface="Calibri" pitchFamily="34" charset="0"/>
                <a:ea typeface="Calibri" pitchFamily="34" charset="-122"/>
                <a:cs typeface="Calibri" pitchFamily="34" charset="-120"/>
              </a:rPr>
              <a:t>Batch details • Manufacture Date • Expiry Date • Quantity</a:t>
            </a:r>
            <a:endParaRPr lang="en-US" sz="1050" dirty="0"/>
          </a:p>
        </p:txBody>
      </p:sp>
      <p:sp>
        <p:nvSpPr>
          <p:cNvPr id="49" name="Shape 47"/>
          <p:cNvSpPr/>
          <p:nvPr/>
        </p:nvSpPr>
        <p:spPr>
          <a:xfrm>
            <a:off x="9326880" y="3611880"/>
            <a:ext cx="2697480" cy="1691640"/>
          </a:xfrm>
          <a:prstGeom prst="roundRect">
            <a:avLst>
              <a:gd name="adj" fmla="val 4324"/>
            </a:avLst>
          </a:prstGeom>
          <a:solidFill>
            <a:srgbClr val="FFFFFF"/>
          </a:solidFill>
          <a:ln w="12700">
            <a:solidFill>
              <a:srgbClr val="D9E2EC"/>
            </a:solidFill>
            <a:prstDash val="solid"/>
          </a:ln>
        </p:spPr>
      </p:sp>
      <p:sp>
        <p:nvSpPr>
          <p:cNvPr id="50" name="Shape 48"/>
          <p:cNvSpPr/>
          <p:nvPr/>
        </p:nvSpPr>
        <p:spPr>
          <a:xfrm>
            <a:off x="9509760" y="3794760"/>
            <a:ext cx="457200" cy="365760"/>
          </a:xfrm>
          <a:prstGeom prst="roundRect">
            <a:avLst>
              <a:gd name="adj" fmla="val 12500"/>
            </a:avLst>
          </a:prstGeom>
          <a:solidFill>
            <a:srgbClr val="0A2540"/>
          </a:solidFill>
          <a:ln/>
        </p:spPr>
      </p:sp>
      <p:sp>
        <p:nvSpPr>
          <p:cNvPr id="51" name="Text 49"/>
          <p:cNvSpPr/>
          <p:nvPr/>
        </p:nvSpPr>
        <p:spPr>
          <a:xfrm>
            <a:off x="9509760" y="3794760"/>
            <a:ext cx="457200" cy="36576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DB</a:t>
            </a:r>
            <a:endParaRPr lang="en-US" sz="1000" dirty="0"/>
          </a:p>
        </p:txBody>
      </p:sp>
      <p:sp>
        <p:nvSpPr>
          <p:cNvPr id="52" name="Text 50"/>
          <p:cNvSpPr/>
          <p:nvPr/>
        </p:nvSpPr>
        <p:spPr>
          <a:xfrm>
            <a:off x="9509760" y="4233672"/>
            <a:ext cx="233172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Transactions</a:t>
            </a:r>
            <a:endParaRPr lang="en-US" sz="1400" dirty="0"/>
          </a:p>
        </p:txBody>
      </p:sp>
      <p:sp>
        <p:nvSpPr>
          <p:cNvPr id="53" name="Text 51"/>
          <p:cNvSpPr/>
          <p:nvPr/>
        </p:nvSpPr>
        <p:spPr>
          <a:xfrm>
            <a:off x="9509760" y="4572000"/>
            <a:ext cx="2331720" cy="640080"/>
          </a:xfrm>
          <a:prstGeom prst="rect">
            <a:avLst/>
          </a:prstGeom>
          <a:noFill/>
          <a:ln/>
        </p:spPr>
        <p:txBody>
          <a:bodyPr wrap="square" rtlCol="0" anchor="t"/>
          <a:lstStyle/>
          <a:p>
            <a:pPr indent="0" marL="0">
              <a:buNone/>
            </a:pPr>
            <a:r>
              <a:rPr lang="en-US" sz="1050" dirty="0">
                <a:solidFill>
                  <a:srgbClr val="52606D"/>
                </a:solidFill>
                <a:latin typeface="Calibri" pitchFamily="34" charset="0"/>
                <a:ea typeface="Calibri" pitchFamily="34" charset="-122"/>
                <a:cs typeface="Calibri" pitchFamily="34" charset="-120"/>
              </a:rPr>
              <a:t>Purchases • Sales • Sale Items</a:t>
            </a:r>
            <a:endParaRPr lang="en-US" sz="1050" dirty="0"/>
          </a:p>
        </p:txBody>
      </p:sp>
      <p:sp>
        <p:nvSpPr>
          <p:cNvPr id="54" name="Text 52"/>
          <p:cNvSpPr/>
          <p:nvPr/>
        </p:nvSpPr>
        <p:spPr>
          <a:xfrm>
            <a:off x="548640" y="5532120"/>
            <a:ext cx="11064240" cy="365760"/>
          </a:xfrm>
          <a:prstGeom prst="rect">
            <a:avLst/>
          </a:prstGeom>
          <a:noFill/>
          <a:ln/>
        </p:spPr>
        <p:txBody>
          <a:bodyPr wrap="square" rtlCol="0" anchor="ctr"/>
          <a:lstStyle/>
          <a:p>
            <a:pPr algn="ctr" indent="0" marL="0">
              <a:buNone/>
            </a:pPr>
            <a:r>
              <a:rPr lang="en-US" sz="1350" b="1" i="1" dirty="0">
                <a:solidFill>
                  <a:srgbClr val="0A2540"/>
                </a:solidFill>
                <a:latin typeface="Calibri" pitchFamily="34" charset="0"/>
                <a:ea typeface="Calibri" pitchFamily="34" charset="-122"/>
                <a:cs typeface="Calibri" pitchFamily="34" charset="-120"/>
              </a:rPr>
              <a:t>MongoDB stores centralized medicine, supplier, batch and transaction documents.</a:t>
            </a:r>
            <a:endParaRPr lang="en-US" sz="1350" dirty="0"/>
          </a:p>
        </p:txBody>
      </p:sp>
      <p:sp>
        <p:nvSpPr>
          <p:cNvPr id="56" name="Text 53"/>
          <p:cNvSpPr/>
          <p:nvPr/>
        </p:nvSpPr>
        <p:spPr>
          <a:xfrm>
            <a:off x="457200" y="6510528"/>
            <a:ext cx="8686800" cy="274320"/>
          </a:xfrm>
          <a:prstGeom prst="rect">
            <a:avLst/>
          </a:prstGeom>
          <a:noFill/>
          <a:ln/>
        </p:spPr>
        <p:txBody>
          <a:bodyPr wrap="square" rtlCol="0" anchor="ctr"/>
          <a:lstStyle/>
          <a:p>
            <a:pPr algn="l" indent="0" marL="0">
              <a:buNone/>
            </a:pPr>
            <a:r>
              <a:rPr lang="en-US" sz="900" dirty="0">
                <a:solidFill>
                  <a:srgbClr val="52606D"/>
                </a:solidFill>
                <a:latin typeface="Calibri" pitchFamily="34" charset="0"/>
                <a:ea typeface="Calibri" pitchFamily="34" charset="-122"/>
                <a:cs typeface="Calibri" pitchFamily="34" charset="-120"/>
              </a:rPr>
              <a:t>Medicine Stock Management &amp; Analytics Portal  |  Project Review – 2</a:t>
            </a:r>
            <a:endParaRPr lang="en-US" sz="900" dirty="0"/>
          </a:p>
        </p:txBody>
      </p:sp>
      <p:sp>
        <p:nvSpPr>
          <p:cNvPr id="57" name="Text 54"/>
          <p:cNvSpPr/>
          <p:nvPr/>
        </p:nvSpPr>
        <p:spPr>
          <a:xfrm>
            <a:off x="11277295" y="6510528"/>
            <a:ext cx="457200" cy="274320"/>
          </a:xfrm>
          <a:prstGeom prst="rect">
            <a:avLst/>
          </a:prstGeom>
          <a:noFill/>
          <a:ln/>
        </p:spPr>
        <p:txBody>
          <a:bodyPr wrap="square"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00B8A9"/>
                </a:solidFill>
                <a:latin typeface="Calibri" pitchFamily="34" charset="0"/>
                <a:ea typeface="Calibri" pitchFamily="34" charset="-122"/>
                <a:cs typeface="Calibri" pitchFamily="34" charset="-120"/>
              </a:rPr>
              <a:t>IMPLEMENTATION KNOWLEDGE</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Tools &amp; Technologies Used</a:t>
            </a:r>
            <a:endParaRPr lang="en-US" sz="3200" dirty="0"/>
          </a:p>
        </p:txBody>
      </p:sp>
      <p:sp>
        <p:nvSpPr>
          <p:cNvPr id="4" name="Text 2"/>
          <p:cNvSpPr/>
          <p:nvPr/>
        </p:nvSpPr>
        <p:spPr>
          <a:xfrm>
            <a:off x="548640" y="1261872"/>
            <a:ext cx="10515600" cy="365760"/>
          </a:xfrm>
          <a:prstGeom prst="rect">
            <a:avLst/>
          </a:prstGeom>
          <a:noFill/>
          <a:ln/>
        </p:spPr>
        <p:txBody>
          <a:bodyPr wrap="square" rtlCol="0" anchor="ctr"/>
          <a:lstStyle/>
          <a:p>
            <a:pPr indent="0" marL="0">
              <a:buNone/>
            </a:pPr>
            <a:r>
              <a:rPr lang="en-US" sz="1500" i="1" dirty="0">
                <a:solidFill>
                  <a:srgbClr val="52606D"/>
                </a:solidFill>
                <a:latin typeface="Calibri" pitchFamily="34" charset="0"/>
                <a:ea typeface="Calibri" pitchFamily="34" charset="-122"/>
                <a:cs typeface="Calibri" pitchFamily="34" charset="-120"/>
              </a:rPr>
              <a:t>Technologies within our current implementation knowledge</a:t>
            </a:r>
            <a:endParaRPr lang="en-US" sz="1500" dirty="0"/>
          </a:p>
        </p:txBody>
      </p:sp>
      <p:sp>
        <p:nvSpPr>
          <p:cNvPr id="5" name="Shape 3"/>
          <p:cNvSpPr/>
          <p:nvPr/>
        </p:nvSpPr>
        <p:spPr>
          <a:xfrm>
            <a:off x="548640" y="1783080"/>
            <a:ext cx="11064240" cy="530352"/>
          </a:xfrm>
          <a:prstGeom prst="roundRect">
            <a:avLst>
              <a:gd name="adj" fmla="val 12069"/>
            </a:avLst>
          </a:prstGeom>
          <a:solidFill>
            <a:srgbClr val="FFFFFF"/>
          </a:solidFill>
          <a:ln w="12700">
            <a:solidFill>
              <a:srgbClr val="D9E2EC"/>
            </a:solidFill>
            <a:prstDash val="solid"/>
          </a:ln>
        </p:spPr>
      </p:sp>
      <p:sp>
        <p:nvSpPr>
          <p:cNvPr id="6" name="Shape 4"/>
          <p:cNvSpPr/>
          <p:nvPr/>
        </p:nvSpPr>
        <p:spPr>
          <a:xfrm>
            <a:off x="548640" y="1783080"/>
            <a:ext cx="2423160" cy="530352"/>
          </a:xfrm>
          <a:prstGeom prst="roundRect">
            <a:avLst>
              <a:gd name="adj" fmla="val 12069"/>
            </a:avLst>
          </a:prstGeom>
          <a:solidFill>
            <a:srgbClr val="0A2540"/>
          </a:solidFill>
          <a:ln/>
        </p:spPr>
      </p:sp>
      <p:sp>
        <p:nvSpPr>
          <p:cNvPr id="7" name="Shape 5"/>
          <p:cNvSpPr/>
          <p:nvPr/>
        </p:nvSpPr>
        <p:spPr>
          <a:xfrm>
            <a:off x="2862072" y="1783080"/>
            <a:ext cx="109728" cy="530352"/>
          </a:xfrm>
          <a:prstGeom prst="rect">
            <a:avLst/>
          </a:prstGeom>
          <a:solidFill>
            <a:srgbClr val="0A2540"/>
          </a:solidFill>
          <a:ln/>
        </p:spPr>
      </p:sp>
      <p:sp>
        <p:nvSpPr>
          <p:cNvPr id="8" name="Text 6"/>
          <p:cNvSpPr/>
          <p:nvPr/>
        </p:nvSpPr>
        <p:spPr>
          <a:xfrm>
            <a:off x="713232" y="1783080"/>
            <a:ext cx="457200" cy="530352"/>
          </a:xfrm>
          <a:prstGeom prst="rect">
            <a:avLst/>
          </a:prstGeom>
          <a:noFill/>
          <a:ln/>
        </p:spPr>
        <p:txBody>
          <a:bodyPr wrap="square" lIns="0" tIns="0" rIns="0" bIns="0" rtlCol="0" anchor="ctr"/>
          <a:lstStyle/>
          <a:p>
            <a:pPr algn="l" indent="0" marL="0">
              <a:buNone/>
            </a:pPr>
            <a:r>
              <a:rPr lang="en-US" sz="1100" b="1" dirty="0">
                <a:solidFill>
                  <a:srgbClr val="00B8A9"/>
                </a:solidFill>
                <a:latin typeface="Calibri" pitchFamily="34" charset="0"/>
                <a:ea typeface="Calibri" pitchFamily="34" charset="-122"/>
                <a:cs typeface="Calibri" pitchFamily="34" charset="-120"/>
              </a:rPr>
              <a:t>01</a:t>
            </a:r>
            <a:endParaRPr lang="en-US" sz="1100" dirty="0"/>
          </a:p>
        </p:txBody>
      </p:sp>
      <p:sp>
        <p:nvSpPr>
          <p:cNvPr id="9" name="Text 7"/>
          <p:cNvSpPr/>
          <p:nvPr/>
        </p:nvSpPr>
        <p:spPr>
          <a:xfrm>
            <a:off x="1115568" y="1783080"/>
            <a:ext cx="1737360" cy="53035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FRONTEND</a:t>
            </a:r>
            <a:endParaRPr lang="en-US" sz="1250" dirty="0"/>
          </a:p>
        </p:txBody>
      </p:sp>
      <p:sp>
        <p:nvSpPr>
          <p:cNvPr id="10" name="Text 8"/>
          <p:cNvSpPr/>
          <p:nvPr/>
        </p:nvSpPr>
        <p:spPr>
          <a:xfrm>
            <a:off x="3200400" y="1783080"/>
            <a:ext cx="8183880" cy="530352"/>
          </a:xfrm>
          <a:prstGeom prst="rect">
            <a:avLst/>
          </a:prstGeom>
          <a:noFill/>
          <a:ln/>
        </p:spPr>
        <p:txBody>
          <a:bodyPr wrap="square" lIns="0" tIns="0" rIns="0" bIns="0" rtlCol="0" anchor="ctr"/>
          <a:lstStyle/>
          <a:p>
            <a:pPr algn="l" indent="0" marL="0">
              <a:buNone/>
            </a:pPr>
            <a:r>
              <a:rPr lang="en-US" sz="1250" dirty="0">
                <a:solidFill>
                  <a:srgbClr val="102A43"/>
                </a:solidFill>
                <a:latin typeface="Calibri" pitchFamily="34" charset="0"/>
                <a:ea typeface="Calibri" pitchFamily="34" charset="-122"/>
                <a:cs typeface="Calibri" pitchFamily="34" charset="-120"/>
              </a:rPr>
              <a:t>React.js  •  HTML5  •  CSS3  •  JavaScript (ES6+)</a:t>
            </a:r>
            <a:endParaRPr lang="en-US" sz="1250" dirty="0"/>
          </a:p>
        </p:txBody>
      </p:sp>
      <p:sp>
        <p:nvSpPr>
          <p:cNvPr id="11" name="Text 9"/>
          <p:cNvSpPr/>
          <p:nvPr/>
        </p:nvSpPr>
        <p:spPr>
          <a:xfrm>
            <a:off x="1623060" y="2313432"/>
            <a:ext cx="274320" cy="123444"/>
          </a:xfrm>
          <a:prstGeom prst="rect">
            <a:avLst/>
          </a:prstGeom>
          <a:noFill/>
          <a:ln/>
        </p:spPr>
        <p:txBody>
          <a:bodyPr wrap="square" lIns="0" tIns="0" rIns="0" bIns="0" rtlCol="0" anchor="ctr"/>
          <a:lstStyle/>
          <a:p>
            <a:pPr algn="ctr" indent="0" marL="0">
              <a:buNone/>
            </a:pPr>
            <a:r>
              <a:rPr lang="en-US" sz="1000" b="1" dirty="0">
                <a:solidFill>
                  <a:srgbClr val="00B8A9"/>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548640" y="2436876"/>
            <a:ext cx="11064240" cy="530352"/>
          </a:xfrm>
          <a:prstGeom prst="roundRect">
            <a:avLst>
              <a:gd name="adj" fmla="val 12069"/>
            </a:avLst>
          </a:prstGeom>
          <a:solidFill>
            <a:srgbClr val="FFFFFF"/>
          </a:solidFill>
          <a:ln w="12700">
            <a:solidFill>
              <a:srgbClr val="D9E2EC"/>
            </a:solidFill>
            <a:prstDash val="solid"/>
          </a:ln>
        </p:spPr>
      </p:sp>
      <p:sp>
        <p:nvSpPr>
          <p:cNvPr id="13" name="Shape 11"/>
          <p:cNvSpPr/>
          <p:nvPr/>
        </p:nvSpPr>
        <p:spPr>
          <a:xfrm>
            <a:off x="548640" y="2436876"/>
            <a:ext cx="2423160" cy="530352"/>
          </a:xfrm>
          <a:prstGeom prst="roundRect">
            <a:avLst>
              <a:gd name="adj" fmla="val 12069"/>
            </a:avLst>
          </a:prstGeom>
          <a:solidFill>
            <a:srgbClr val="0A2540"/>
          </a:solidFill>
          <a:ln/>
        </p:spPr>
      </p:sp>
      <p:sp>
        <p:nvSpPr>
          <p:cNvPr id="14" name="Shape 12"/>
          <p:cNvSpPr/>
          <p:nvPr/>
        </p:nvSpPr>
        <p:spPr>
          <a:xfrm>
            <a:off x="2862072" y="2436876"/>
            <a:ext cx="109728" cy="530352"/>
          </a:xfrm>
          <a:prstGeom prst="rect">
            <a:avLst/>
          </a:prstGeom>
          <a:solidFill>
            <a:srgbClr val="0A2540"/>
          </a:solidFill>
          <a:ln/>
        </p:spPr>
      </p:sp>
      <p:sp>
        <p:nvSpPr>
          <p:cNvPr id="15" name="Text 13"/>
          <p:cNvSpPr/>
          <p:nvPr/>
        </p:nvSpPr>
        <p:spPr>
          <a:xfrm>
            <a:off x="713232" y="2436876"/>
            <a:ext cx="457200" cy="530352"/>
          </a:xfrm>
          <a:prstGeom prst="rect">
            <a:avLst/>
          </a:prstGeom>
          <a:noFill/>
          <a:ln/>
        </p:spPr>
        <p:txBody>
          <a:bodyPr wrap="square" lIns="0" tIns="0" rIns="0" bIns="0" rtlCol="0" anchor="ctr"/>
          <a:lstStyle/>
          <a:p>
            <a:pPr algn="l" indent="0" marL="0">
              <a:buNone/>
            </a:pPr>
            <a:r>
              <a:rPr lang="en-US" sz="1100" b="1" dirty="0">
                <a:solidFill>
                  <a:srgbClr val="00D4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1115568" y="2436876"/>
            <a:ext cx="1737360" cy="53035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BACKEND</a:t>
            </a:r>
            <a:endParaRPr lang="en-US" sz="1250" dirty="0"/>
          </a:p>
        </p:txBody>
      </p:sp>
      <p:sp>
        <p:nvSpPr>
          <p:cNvPr id="17" name="Text 15"/>
          <p:cNvSpPr/>
          <p:nvPr/>
        </p:nvSpPr>
        <p:spPr>
          <a:xfrm>
            <a:off x="3200400" y="2436876"/>
            <a:ext cx="8183880" cy="530352"/>
          </a:xfrm>
          <a:prstGeom prst="rect">
            <a:avLst/>
          </a:prstGeom>
          <a:noFill/>
          <a:ln/>
        </p:spPr>
        <p:txBody>
          <a:bodyPr wrap="square" lIns="0" tIns="0" rIns="0" bIns="0" rtlCol="0" anchor="ctr"/>
          <a:lstStyle/>
          <a:p>
            <a:pPr algn="l" indent="0" marL="0">
              <a:buNone/>
            </a:pPr>
            <a:r>
              <a:rPr lang="en-US" sz="1250" dirty="0">
                <a:solidFill>
                  <a:srgbClr val="102A43"/>
                </a:solidFill>
                <a:latin typeface="Calibri" pitchFamily="34" charset="0"/>
                <a:ea typeface="Calibri" pitchFamily="34" charset="-122"/>
                <a:cs typeface="Calibri" pitchFamily="34" charset="-120"/>
              </a:rPr>
              <a:t>Node.js  •  Express.js</a:t>
            </a:r>
            <a:endParaRPr lang="en-US" sz="1250" dirty="0"/>
          </a:p>
        </p:txBody>
      </p:sp>
      <p:sp>
        <p:nvSpPr>
          <p:cNvPr id="18" name="Text 16"/>
          <p:cNvSpPr/>
          <p:nvPr/>
        </p:nvSpPr>
        <p:spPr>
          <a:xfrm>
            <a:off x="1623060" y="2967228"/>
            <a:ext cx="274320" cy="123444"/>
          </a:xfrm>
          <a:prstGeom prst="rect">
            <a:avLst/>
          </a:prstGeom>
          <a:noFill/>
          <a:ln/>
        </p:spPr>
        <p:txBody>
          <a:bodyPr wrap="square" lIns="0" tIns="0" rIns="0" bIns="0" rtlCol="0" anchor="ctr"/>
          <a:lstStyle/>
          <a:p>
            <a:pPr algn="ctr" indent="0" marL="0">
              <a:buNone/>
            </a:pPr>
            <a:r>
              <a:rPr lang="en-US" sz="1000" b="1" dirty="0">
                <a:solidFill>
                  <a:srgbClr val="00B8A9"/>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548640" y="3090672"/>
            <a:ext cx="11064240" cy="530352"/>
          </a:xfrm>
          <a:prstGeom prst="roundRect">
            <a:avLst>
              <a:gd name="adj" fmla="val 12069"/>
            </a:avLst>
          </a:prstGeom>
          <a:solidFill>
            <a:srgbClr val="FFFFFF"/>
          </a:solidFill>
          <a:ln w="12700">
            <a:solidFill>
              <a:srgbClr val="D9E2EC"/>
            </a:solidFill>
            <a:prstDash val="solid"/>
          </a:ln>
        </p:spPr>
      </p:sp>
      <p:sp>
        <p:nvSpPr>
          <p:cNvPr id="20" name="Shape 18"/>
          <p:cNvSpPr/>
          <p:nvPr/>
        </p:nvSpPr>
        <p:spPr>
          <a:xfrm>
            <a:off x="548640" y="3090672"/>
            <a:ext cx="2423160" cy="530352"/>
          </a:xfrm>
          <a:prstGeom prst="roundRect">
            <a:avLst>
              <a:gd name="adj" fmla="val 12069"/>
            </a:avLst>
          </a:prstGeom>
          <a:solidFill>
            <a:srgbClr val="0A2540"/>
          </a:solidFill>
          <a:ln/>
        </p:spPr>
      </p:sp>
      <p:sp>
        <p:nvSpPr>
          <p:cNvPr id="21" name="Shape 19"/>
          <p:cNvSpPr/>
          <p:nvPr/>
        </p:nvSpPr>
        <p:spPr>
          <a:xfrm>
            <a:off x="2862072" y="3090672"/>
            <a:ext cx="109728" cy="530352"/>
          </a:xfrm>
          <a:prstGeom prst="rect">
            <a:avLst/>
          </a:prstGeom>
          <a:solidFill>
            <a:srgbClr val="0A2540"/>
          </a:solidFill>
          <a:ln/>
        </p:spPr>
      </p:sp>
      <p:sp>
        <p:nvSpPr>
          <p:cNvPr id="22" name="Text 20"/>
          <p:cNvSpPr/>
          <p:nvPr/>
        </p:nvSpPr>
        <p:spPr>
          <a:xfrm>
            <a:off x="713232" y="3090672"/>
            <a:ext cx="457200" cy="530352"/>
          </a:xfrm>
          <a:prstGeom prst="rect">
            <a:avLst/>
          </a:prstGeom>
          <a:noFill/>
          <a:ln/>
        </p:spPr>
        <p:txBody>
          <a:bodyPr wrap="square" lIns="0" tIns="0" rIns="0" bIns="0" rtlCol="0" anchor="ctr"/>
          <a:lstStyle/>
          <a:p>
            <a:pPr algn="l" indent="0" marL="0">
              <a:buNone/>
            </a:pPr>
            <a:r>
              <a:rPr lang="en-US" sz="1100" b="1" dirty="0">
                <a:solidFill>
                  <a:srgbClr val="00B8A9"/>
                </a:solidFill>
                <a:latin typeface="Calibri" pitchFamily="34" charset="0"/>
                <a:ea typeface="Calibri" pitchFamily="34" charset="-122"/>
                <a:cs typeface="Calibri" pitchFamily="34" charset="-120"/>
              </a:rPr>
              <a:t>03</a:t>
            </a:r>
            <a:endParaRPr lang="en-US" sz="1100" dirty="0"/>
          </a:p>
        </p:txBody>
      </p:sp>
      <p:sp>
        <p:nvSpPr>
          <p:cNvPr id="23" name="Text 21"/>
          <p:cNvSpPr/>
          <p:nvPr/>
        </p:nvSpPr>
        <p:spPr>
          <a:xfrm>
            <a:off x="1115568" y="3090672"/>
            <a:ext cx="1737360" cy="53035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API &amp; SECURITY</a:t>
            </a:r>
            <a:endParaRPr lang="en-US" sz="1250" dirty="0"/>
          </a:p>
        </p:txBody>
      </p:sp>
      <p:sp>
        <p:nvSpPr>
          <p:cNvPr id="24" name="Text 22"/>
          <p:cNvSpPr/>
          <p:nvPr/>
        </p:nvSpPr>
        <p:spPr>
          <a:xfrm>
            <a:off x="3200400" y="3090672"/>
            <a:ext cx="8183880" cy="530352"/>
          </a:xfrm>
          <a:prstGeom prst="rect">
            <a:avLst/>
          </a:prstGeom>
          <a:noFill/>
          <a:ln/>
        </p:spPr>
        <p:txBody>
          <a:bodyPr wrap="square" lIns="0" tIns="0" rIns="0" bIns="0" rtlCol="0" anchor="ctr"/>
          <a:lstStyle/>
          <a:p>
            <a:pPr algn="l" indent="0" marL="0">
              <a:buNone/>
            </a:pPr>
            <a:r>
              <a:rPr lang="en-US" sz="1250" dirty="0">
                <a:solidFill>
                  <a:srgbClr val="102A43"/>
                </a:solidFill>
                <a:latin typeface="Calibri" pitchFamily="34" charset="0"/>
                <a:ea typeface="Calibri" pitchFamily="34" charset="-122"/>
                <a:cs typeface="Calibri" pitchFamily="34" charset="-120"/>
              </a:rPr>
              <a:t>RESTful APIs  •  JWT  •  bcrypt</a:t>
            </a:r>
            <a:endParaRPr lang="en-US" sz="1250" dirty="0"/>
          </a:p>
        </p:txBody>
      </p:sp>
      <p:sp>
        <p:nvSpPr>
          <p:cNvPr id="25" name="Text 23"/>
          <p:cNvSpPr/>
          <p:nvPr/>
        </p:nvSpPr>
        <p:spPr>
          <a:xfrm>
            <a:off x="1623060" y="3621024"/>
            <a:ext cx="274320" cy="123444"/>
          </a:xfrm>
          <a:prstGeom prst="rect">
            <a:avLst/>
          </a:prstGeom>
          <a:noFill/>
          <a:ln/>
        </p:spPr>
        <p:txBody>
          <a:bodyPr wrap="square" lIns="0" tIns="0" rIns="0" bIns="0" rtlCol="0" anchor="ctr"/>
          <a:lstStyle/>
          <a:p>
            <a:pPr algn="ctr" indent="0" marL="0">
              <a:buNone/>
            </a:pPr>
            <a:r>
              <a:rPr lang="en-US" sz="1000" b="1" dirty="0">
                <a:solidFill>
                  <a:srgbClr val="00B8A9"/>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548640" y="3744468"/>
            <a:ext cx="11064240" cy="530352"/>
          </a:xfrm>
          <a:prstGeom prst="roundRect">
            <a:avLst>
              <a:gd name="adj" fmla="val 12069"/>
            </a:avLst>
          </a:prstGeom>
          <a:solidFill>
            <a:srgbClr val="FFFFFF"/>
          </a:solidFill>
          <a:ln w="12700">
            <a:solidFill>
              <a:srgbClr val="D9E2EC"/>
            </a:solidFill>
            <a:prstDash val="solid"/>
          </a:ln>
        </p:spPr>
      </p:sp>
      <p:sp>
        <p:nvSpPr>
          <p:cNvPr id="27" name="Shape 25"/>
          <p:cNvSpPr/>
          <p:nvPr/>
        </p:nvSpPr>
        <p:spPr>
          <a:xfrm>
            <a:off x="548640" y="3744468"/>
            <a:ext cx="2423160" cy="530352"/>
          </a:xfrm>
          <a:prstGeom prst="roundRect">
            <a:avLst>
              <a:gd name="adj" fmla="val 12069"/>
            </a:avLst>
          </a:prstGeom>
          <a:solidFill>
            <a:srgbClr val="0A2540"/>
          </a:solidFill>
          <a:ln/>
        </p:spPr>
      </p:sp>
      <p:sp>
        <p:nvSpPr>
          <p:cNvPr id="28" name="Shape 26"/>
          <p:cNvSpPr/>
          <p:nvPr/>
        </p:nvSpPr>
        <p:spPr>
          <a:xfrm>
            <a:off x="2862072" y="3744468"/>
            <a:ext cx="109728" cy="530352"/>
          </a:xfrm>
          <a:prstGeom prst="rect">
            <a:avLst/>
          </a:prstGeom>
          <a:solidFill>
            <a:srgbClr val="0A2540"/>
          </a:solidFill>
          <a:ln/>
        </p:spPr>
      </p:sp>
      <p:sp>
        <p:nvSpPr>
          <p:cNvPr id="29" name="Text 27"/>
          <p:cNvSpPr/>
          <p:nvPr/>
        </p:nvSpPr>
        <p:spPr>
          <a:xfrm>
            <a:off x="713232" y="3744468"/>
            <a:ext cx="457200" cy="530352"/>
          </a:xfrm>
          <a:prstGeom prst="rect">
            <a:avLst/>
          </a:prstGeom>
          <a:noFill/>
          <a:ln/>
        </p:spPr>
        <p:txBody>
          <a:bodyPr wrap="square" lIns="0" tIns="0" rIns="0" bIns="0" rtlCol="0" anchor="ctr"/>
          <a:lstStyle/>
          <a:p>
            <a:pPr algn="l" indent="0" marL="0">
              <a:buNone/>
            </a:pPr>
            <a:r>
              <a:rPr lang="en-US" sz="1100" b="1" dirty="0">
                <a:solidFill>
                  <a:srgbClr val="00D4FF"/>
                </a:solidFill>
                <a:latin typeface="Calibri" pitchFamily="34" charset="0"/>
                <a:ea typeface="Calibri" pitchFamily="34" charset="-122"/>
                <a:cs typeface="Calibri" pitchFamily="34" charset="-120"/>
              </a:rPr>
              <a:t>04</a:t>
            </a:r>
            <a:endParaRPr lang="en-US" sz="1100" dirty="0"/>
          </a:p>
        </p:txBody>
      </p:sp>
      <p:sp>
        <p:nvSpPr>
          <p:cNvPr id="30" name="Text 28"/>
          <p:cNvSpPr/>
          <p:nvPr/>
        </p:nvSpPr>
        <p:spPr>
          <a:xfrm>
            <a:off x="1115568" y="3744468"/>
            <a:ext cx="1737360" cy="53035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DATABASE &amp; ODM</a:t>
            </a:r>
            <a:endParaRPr lang="en-US" sz="1250" dirty="0"/>
          </a:p>
        </p:txBody>
      </p:sp>
      <p:sp>
        <p:nvSpPr>
          <p:cNvPr id="31" name="Text 29"/>
          <p:cNvSpPr/>
          <p:nvPr/>
        </p:nvSpPr>
        <p:spPr>
          <a:xfrm>
            <a:off x="3200400" y="3744468"/>
            <a:ext cx="8183880" cy="530352"/>
          </a:xfrm>
          <a:prstGeom prst="rect">
            <a:avLst/>
          </a:prstGeom>
          <a:noFill/>
          <a:ln/>
        </p:spPr>
        <p:txBody>
          <a:bodyPr wrap="square" lIns="0" tIns="0" rIns="0" bIns="0" rtlCol="0" anchor="ctr"/>
          <a:lstStyle/>
          <a:p>
            <a:pPr algn="l" indent="0" marL="0">
              <a:buNone/>
            </a:pPr>
            <a:r>
              <a:rPr lang="en-US" sz="1250" dirty="0">
                <a:solidFill>
                  <a:srgbClr val="102A43"/>
                </a:solidFill>
                <a:latin typeface="Calibri" pitchFamily="34" charset="0"/>
                <a:ea typeface="Calibri" pitchFamily="34" charset="-122"/>
                <a:cs typeface="Calibri" pitchFamily="34" charset="-120"/>
              </a:rPr>
              <a:t>MongoDB  •  Mongoose</a:t>
            </a:r>
            <a:endParaRPr lang="en-US" sz="1250" dirty="0"/>
          </a:p>
        </p:txBody>
      </p:sp>
      <p:sp>
        <p:nvSpPr>
          <p:cNvPr id="32" name="Text 30"/>
          <p:cNvSpPr/>
          <p:nvPr/>
        </p:nvSpPr>
        <p:spPr>
          <a:xfrm>
            <a:off x="1623060" y="4274820"/>
            <a:ext cx="274320" cy="123444"/>
          </a:xfrm>
          <a:prstGeom prst="rect">
            <a:avLst/>
          </a:prstGeom>
          <a:noFill/>
          <a:ln/>
        </p:spPr>
        <p:txBody>
          <a:bodyPr wrap="square" lIns="0" tIns="0" rIns="0" bIns="0" rtlCol="0" anchor="ctr"/>
          <a:lstStyle/>
          <a:p>
            <a:pPr algn="ctr" indent="0" marL="0">
              <a:buNone/>
            </a:pPr>
            <a:r>
              <a:rPr lang="en-US" sz="1000" b="1" dirty="0">
                <a:solidFill>
                  <a:srgbClr val="00B8A9"/>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548640" y="4398264"/>
            <a:ext cx="11064240" cy="530352"/>
          </a:xfrm>
          <a:prstGeom prst="roundRect">
            <a:avLst>
              <a:gd name="adj" fmla="val 12069"/>
            </a:avLst>
          </a:prstGeom>
          <a:solidFill>
            <a:srgbClr val="FFFFFF"/>
          </a:solidFill>
          <a:ln w="12700">
            <a:solidFill>
              <a:srgbClr val="D9E2EC"/>
            </a:solidFill>
            <a:prstDash val="solid"/>
          </a:ln>
        </p:spPr>
      </p:sp>
      <p:sp>
        <p:nvSpPr>
          <p:cNvPr id="34" name="Shape 32"/>
          <p:cNvSpPr/>
          <p:nvPr/>
        </p:nvSpPr>
        <p:spPr>
          <a:xfrm>
            <a:off x="548640" y="4398264"/>
            <a:ext cx="2423160" cy="530352"/>
          </a:xfrm>
          <a:prstGeom prst="roundRect">
            <a:avLst>
              <a:gd name="adj" fmla="val 12069"/>
            </a:avLst>
          </a:prstGeom>
          <a:solidFill>
            <a:srgbClr val="0A2540"/>
          </a:solidFill>
          <a:ln/>
        </p:spPr>
      </p:sp>
      <p:sp>
        <p:nvSpPr>
          <p:cNvPr id="35" name="Shape 33"/>
          <p:cNvSpPr/>
          <p:nvPr/>
        </p:nvSpPr>
        <p:spPr>
          <a:xfrm>
            <a:off x="2862072" y="4398264"/>
            <a:ext cx="109728" cy="530352"/>
          </a:xfrm>
          <a:prstGeom prst="rect">
            <a:avLst/>
          </a:prstGeom>
          <a:solidFill>
            <a:srgbClr val="0A2540"/>
          </a:solidFill>
          <a:ln/>
        </p:spPr>
      </p:sp>
      <p:sp>
        <p:nvSpPr>
          <p:cNvPr id="36" name="Text 34"/>
          <p:cNvSpPr/>
          <p:nvPr/>
        </p:nvSpPr>
        <p:spPr>
          <a:xfrm>
            <a:off x="713232" y="4398264"/>
            <a:ext cx="457200" cy="530352"/>
          </a:xfrm>
          <a:prstGeom prst="rect">
            <a:avLst/>
          </a:prstGeom>
          <a:noFill/>
          <a:ln/>
        </p:spPr>
        <p:txBody>
          <a:bodyPr wrap="square" lIns="0" tIns="0" rIns="0" bIns="0" rtlCol="0" anchor="ctr"/>
          <a:lstStyle/>
          <a:p>
            <a:pPr algn="l" indent="0" marL="0">
              <a:buNone/>
            </a:pPr>
            <a:r>
              <a:rPr lang="en-US" sz="1100" b="1" dirty="0">
                <a:solidFill>
                  <a:srgbClr val="00B8A9"/>
                </a:solidFill>
                <a:latin typeface="Calibri" pitchFamily="34" charset="0"/>
                <a:ea typeface="Calibri" pitchFamily="34" charset="-122"/>
                <a:cs typeface="Calibri" pitchFamily="34" charset="-120"/>
              </a:rPr>
              <a:t>05</a:t>
            </a:r>
            <a:endParaRPr lang="en-US" sz="1100" dirty="0"/>
          </a:p>
        </p:txBody>
      </p:sp>
      <p:sp>
        <p:nvSpPr>
          <p:cNvPr id="37" name="Text 35"/>
          <p:cNvSpPr/>
          <p:nvPr/>
        </p:nvSpPr>
        <p:spPr>
          <a:xfrm>
            <a:off x="1115568" y="4398264"/>
            <a:ext cx="1737360" cy="53035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ANALYTICS</a:t>
            </a:r>
            <a:endParaRPr lang="en-US" sz="1250" dirty="0"/>
          </a:p>
        </p:txBody>
      </p:sp>
      <p:sp>
        <p:nvSpPr>
          <p:cNvPr id="38" name="Text 36"/>
          <p:cNvSpPr/>
          <p:nvPr/>
        </p:nvSpPr>
        <p:spPr>
          <a:xfrm>
            <a:off x="3200400" y="4398264"/>
            <a:ext cx="8183880" cy="530352"/>
          </a:xfrm>
          <a:prstGeom prst="rect">
            <a:avLst/>
          </a:prstGeom>
          <a:noFill/>
          <a:ln/>
        </p:spPr>
        <p:txBody>
          <a:bodyPr wrap="square" lIns="0" tIns="0" rIns="0" bIns="0" rtlCol="0" anchor="ctr"/>
          <a:lstStyle/>
          <a:p>
            <a:pPr algn="l" indent="0" marL="0">
              <a:buNone/>
            </a:pPr>
            <a:r>
              <a:rPr lang="en-US" sz="1250" dirty="0">
                <a:solidFill>
                  <a:srgbClr val="102A43"/>
                </a:solidFill>
                <a:latin typeface="Calibri" pitchFamily="34" charset="0"/>
                <a:ea typeface="Calibri" pitchFamily="34" charset="-122"/>
                <a:cs typeface="Calibri" pitchFamily="34" charset="-120"/>
              </a:rPr>
              <a:t>Recharts</a:t>
            </a:r>
            <a:endParaRPr lang="en-US" sz="1250" dirty="0"/>
          </a:p>
        </p:txBody>
      </p:sp>
      <p:sp>
        <p:nvSpPr>
          <p:cNvPr id="39" name="Text 37"/>
          <p:cNvSpPr/>
          <p:nvPr/>
        </p:nvSpPr>
        <p:spPr>
          <a:xfrm>
            <a:off x="1623060" y="4928616"/>
            <a:ext cx="274320" cy="123444"/>
          </a:xfrm>
          <a:prstGeom prst="rect">
            <a:avLst/>
          </a:prstGeom>
          <a:noFill/>
          <a:ln/>
        </p:spPr>
        <p:txBody>
          <a:bodyPr wrap="square" lIns="0" tIns="0" rIns="0" bIns="0" rtlCol="0" anchor="ctr"/>
          <a:lstStyle/>
          <a:p>
            <a:pPr algn="ctr" indent="0" marL="0">
              <a:buNone/>
            </a:pPr>
            <a:r>
              <a:rPr lang="en-US" sz="1000" b="1" dirty="0">
                <a:solidFill>
                  <a:srgbClr val="00B8A9"/>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548640" y="5052060"/>
            <a:ext cx="11064240" cy="530352"/>
          </a:xfrm>
          <a:prstGeom prst="roundRect">
            <a:avLst>
              <a:gd name="adj" fmla="val 12069"/>
            </a:avLst>
          </a:prstGeom>
          <a:solidFill>
            <a:srgbClr val="FFFFFF"/>
          </a:solidFill>
          <a:ln w="12700">
            <a:solidFill>
              <a:srgbClr val="D9E2EC"/>
            </a:solidFill>
            <a:prstDash val="solid"/>
          </a:ln>
        </p:spPr>
      </p:sp>
      <p:sp>
        <p:nvSpPr>
          <p:cNvPr id="41" name="Shape 39"/>
          <p:cNvSpPr/>
          <p:nvPr/>
        </p:nvSpPr>
        <p:spPr>
          <a:xfrm>
            <a:off x="548640" y="5052060"/>
            <a:ext cx="2423160" cy="530352"/>
          </a:xfrm>
          <a:prstGeom prst="roundRect">
            <a:avLst>
              <a:gd name="adj" fmla="val 12069"/>
            </a:avLst>
          </a:prstGeom>
          <a:solidFill>
            <a:srgbClr val="0A2540"/>
          </a:solidFill>
          <a:ln/>
        </p:spPr>
      </p:sp>
      <p:sp>
        <p:nvSpPr>
          <p:cNvPr id="42" name="Shape 40"/>
          <p:cNvSpPr/>
          <p:nvPr/>
        </p:nvSpPr>
        <p:spPr>
          <a:xfrm>
            <a:off x="2862072" y="5052060"/>
            <a:ext cx="109728" cy="530352"/>
          </a:xfrm>
          <a:prstGeom prst="rect">
            <a:avLst/>
          </a:prstGeom>
          <a:solidFill>
            <a:srgbClr val="0A2540"/>
          </a:solidFill>
          <a:ln/>
        </p:spPr>
      </p:sp>
      <p:sp>
        <p:nvSpPr>
          <p:cNvPr id="43" name="Text 41"/>
          <p:cNvSpPr/>
          <p:nvPr/>
        </p:nvSpPr>
        <p:spPr>
          <a:xfrm>
            <a:off x="713232" y="5052060"/>
            <a:ext cx="457200" cy="530352"/>
          </a:xfrm>
          <a:prstGeom prst="rect">
            <a:avLst/>
          </a:prstGeom>
          <a:noFill/>
          <a:ln/>
        </p:spPr>
        <p:txBody>
          <a:bodyPr wrap="square" lIns="0" tIns="0" rIns="0" bIns="0" rtlCol="0" anchor="ctr"/>
          <a:lstStyle/>
          <a:p>
            <a:pPr algn="l" indent="0" marL="0">
              <a:buNone/>
            </a:pPr>
            <a:r>
              <a:rPr lang="en-US" sz="1100" b="1" dirty="0">
                <a:solidFill>
                  <a:srgbClr val="00D4FF"/>
                </a:solidFill>
                <a:latin typeface="Calibri" pitchFamily="34" charset="0"/>
                <a:ea typeface="Calibri" pitchFamily="34" charset="-122"/>
                <a:cs typeface="Calibri" pitchFamily="34" charset="-120"/>
              </a:rPr>
              <a:t>06</a:t>
            </a:r>
            <a:endParaRPr lang="en-US" sz="1100" dirty="0"/>
          </a:p>
        </p:txBody>
      </p:sp>
      <p:sp>
        <p:nvSpPr>
          <p:cNvPr id="44" name="Text 42"/>
          <p:cNvSpPr/>
          <p:nvPr/>
        </p:nvSpPr>
        <p:spPr>
          <a:xfrm>
            <a:off x="1115568" y="5052060"/>
            <a:ext cx="1737360" cy="53035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DEVELOPMENT &amp; TESTING</a:t>
            </a:r>
            <a:endParaRPr lang="en-US" sz="1250" dirty="0"/>
          </a:p>
        </p:txBody>
      </p:sp>
      <p:sp>
        <p:nvSpPr>
          <p:cNvPr id="45" name="Text 43"/>
          <p:cNvSpPr/>
          <p:nvPr/>
        </p:nvSpPr>
        <p:spPr>
          <a:xfrm>
            <a:off x="3200400" y="5052060"/>
            <a:ext cx="8183880" cy="530352"/>
          </a:xfrm>
          <a:prstGeom prst="rect">
            <a:avLst/>
          </a:prstGeom>
          <a:noFill/>
          <a:ln/>
        </p:spPr>
        <p:txBody>
          <a:bodyPr wrap="square" lIns="0" tIns="0" rIns="0" bIns="0" rtlCol="0" anchor="ctr"/>
          <a:lstStyle/>
          <a:p>
            <a:pPr algn="l" indent="0" marL="0">
              <a:buNone/>
            </a:pPr>
            <a:r>
              <a:rPr lang="en-US" sz="1250" dirty="0">
                <a:solidFill>
                  <a:srgbClr val="102A43"/>
                </a:solidFill>
                <a:latin typeface="Calibri" pitchFamily="34" charset="0"/>
                <a:ea typeface="Calibri" pitchFamily="34" charset="-122"/>
                <a:cs typeface="Calibri" pitchFamily="34" charset="-120"/>
              </a:rPr>
              <a:t>Postman • MongoDB Compass • Visual Studio Code • npm • Git • GitHub</a:t>
            </a:r>
            <a:endParaRPr lang="en-US" sz="1250" dirty="0"/>
          </a:p>
        </p:txBody>
      </p:sp>
      <p:sp>
        <p:nvSpPr>
          <p:cNvPr id="47" name="Text 44"/>
          <p:cNvSpPr/>
          <p:nvPr/>
        </p:nvSpPr>
        <p:spPr>
          <a:xfrm>
            <a:off x="457200" y="6510528"/>
            <a:ext cx="8686800" cy="274320"/>
          </a:xfrm>
          <a:prstGeom prst="rect">
            <a:avLst/>
          </a:prstGeom>
          <a:noFill/>
          <a:ln/>
        </p:spPr>
        <p:txBody>
          <a:bodyPr wrap="square" rtlCol="0" anchor="ctr"/>
          <a:lstStyle/>
          <a:p>
            <a:pPr algn="l" indent="0" marL="0">
              <a:buNone/>
            </a:pPr>
            <a:r>
              <a:rPr lang="en-US" sz="900" dirty="0">
                <a:solidFill>
                  <a:srgbClr val="52606D"/>
                </a:solidFill>
                <a:latin typeface="Calibri" pitchFamily="34" charset="0"/>
                <a:ea typeface="Calibri" pitchFamily="34" charset="-122"/>
                <a:cs typeface="Calibri" pitchFamily="34" charset="-120"/>
              </a:rPr>
              <a:t>Medicine Stock Management &amp; Analytics Portal  |  Project Review – 2</a:t>
            </a:r>
            <a:endParaRPr lang="en-US" sz="900" dirty="0"/>
          </a:p>
        </p:txBody>
      </p:sp>
      <p:sp>
        <p:nvSpPr>
          <p:cNvPr id="48" name="Text 45"/>
          <p:cNvSpPr/>
          <p:nvPr/>
        </p:nvSpPr>
        <p:spPr>
          <a:xfrm>
            <a:off x="11277295" y="6510528"/>
            <a:ext cx="457200" cy="274320"/>
          </a:xfrm>
          <a:prstGeom prst="rect">
            <a:avLst/>
          </a:prstGeom>
          <a:noFill/>
          <a:ln/>
        </p:spPr>
        <p:txBody>
          <a:bodyPr wrap="square"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00B8A9"/>
                </a:solidFill>
                <a:latin typeface="Calibri" pitchFamily="34" charset="0"/>
                <a:ea typeface="Calibri" pitchFamily="34" charset="-122"/>
                <a:cs typeface="Calibri" pitchFamily="34" charset="-120"/>
              </a:rPr>
              <a:t>VALUE DELIVERED</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Expected Impact</a:t>
            </a:r>
            <a:endParaRPr lang="en-US" sz="3200" dirty="0"/>
          </a:p>
        </p:txBody>
      </p:sp>
      <p:sp>
        <p:nvSpPr>
          <p:cNvPr id="4" name="Shape 2"/>
          <p:cNvSpPr/>
          <p:nvPr/>
        </p:nvSpPr>
        <p:spPr>
          <a:xfrm>
            <a:off x="548640" y="1965960"/>
            <a:ext cx="2697480" cy="3291840"/>
          </a:xfrm>
          <a:prstGeom prst="roundRect">
            <a:avLst>
              <a:gd name="adj" fmla="val 3051"/>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5" name="Shape 3"/>
          <p:cNvSpPr/>
          <p:nvPr/>
        </p:nvSpPr>
        <p:spPr>
          <a:xfrm>
            <a:off x="1577340" y="2286000"/>
            <a:ext cx="640080" cy="640080"/>
          </a:xfrm>
          <a:prstGeom prst="ellipse">
            <a:avLst/>
          </a:prstGeom>
          <a:solidFill>
            <a:srgbClr val="00B8A9"/>
          </a:solidFill>
          <a:ln/>
        </p:spPr>
      </p:sp>
      <p:sp>
        <p:nvSpPr>
          <p:cNvPr id="6" name="Text 4"/>
          <p:cNvSpPr/>
          <p:nvPr/>
        </p:nvSpPr>
        <p:spPr>
          <a:xfrm>
            <a:off x="1577340" y="22860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VIS</a:t>
            </a:r>
            <a:endParaRPr lang="en-US" sz="1300" dirty="0"/>
          </a:p>
        </p:txBody>
      </p:sp>
      <p:sp>
        <p:nvSpPr>
          <p:cNvPr id="7" name="Text 5"/>
          <p:cNvSpPr/>
          <p:nvPr/>
        </p:nvSpPr>
        <p:spPr>
          <a:xfrm>
            <a:off x="731520" y="3154680"/>
            <a:ext cx="2331720" cy="640080"/>
          </a:xfrm>
          <a:prstGeom prst="rect">
            <a:avLst/>
          </a:prstGeom>
          <a:noFill/>
          <a:ln/>
        </p:spPr>
        <p:txBody>
          <a:bodyPr wrap="square" rtlCol="0" anchor="ctr"/>
          <a:lstStyle/>
          <a:p>
            <a:pPr algn="ctr" indent="0" marL="0">
              <a:buNone/>
            </a:pPr>
            <a:r>
              <a:rPr lang="en-US" sz="1450" b="1" dirty="0">
                <a:solidFill>
                  <a:srgbClr val="0A2540"/>
                </a:solidFill>
                <a:latin typeface="Calibri" pitchFamily="34" charset="0"/>
                <a:ea typeface="Calibri" pitchFamily="34" charset="-122"/>
                <a:cs typeface="Calibri" pitchFamily="34" charset="-120"/>
              </a:rPr>
              <a:t>Better Visibility</a:t>
            </a:r>
            <a:endParaRPr lang="en-US" sz="1450" dirty="0"/>
          </a:p>
        </p:txBody>
      </p:sp>
      <p:sp>
        <p:nvSpPr>
          <p:cNvPr id="8" name="Text 6"/>
          <p:cNvSpPr/>
          <p:nvPr/>
        </p:nvSpPr>
        <p:spPr>
          <a:xfrm>
            <a:off x="731520" y="3840480"/>
            <a:ext cx="2331720" cy="1280160"/>
          </a:xfrm>
          <a:prstGeom prst="rect">
            <a:avLst/>
          </a:prstGeom>
          <a:noFill/>
          <a:ln/>
        </p:spPr>
        <p:txBody>
          <a:bodyPr wrap="square"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Centralized access to medicine and stock information.</a:t>
            </a:r>
            <a:endParaRPr lang="en-US" sz="1200" dirty="0"/>
          </a:p>
        </p:txBody>
      </p:sp>
      <p:sp>
        <p:nvSpPr>
          <p:cNvPr id="9" name="Shape 7"/>
          <p:cNvSpPr/>
          <p:nvPr/>
        </p:nvSpPr>
        <p:spPr>
          <a:xfrm>
            <a:off x="3474720" y="1965960"/>
            <a:ext cx="2697480" cy="3291840"/>
          </a:xfrm>
          <a:prstGeom prst="roundRect">
            <a:avLst>
              <a:gd name="adj" fmla="val 3051"/>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10" name="Shape 8"/>
          <p:cNvSpPr/>
          <p:nvPr/>
        </p:nvSpPr>
        <p:spPr>
          <a:xfrm>
            <a:off x="4503420" y="2286000"/>
            <a:ext cx="640080" cy="640080"/>
          </a:xfrm>
          <a:prstGeom prst="ellipse">
            <a:avLst/>
          </a:prstGeom>
          <a:solidFill>
            <a:srgbClr val="00B8A9"/>
          </a:solidFill>
          <a:ln/>
        </p:spPr>
      </p:sp>
      <p:sp>
        <p:nvSpPr>
          <p:cNvPr id="11" name="Text 9"/>
          <p:cNvSpPr/>
          <p:nvPr/>
        </p:nvSpPr>
        <p:spPr>
          <a:xfrm>
            <a:off x="4503420" y="22860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CTL</a:t>
            </a:r>
            <a:endParaRPr lang="en-US" sz="1300" dirty="0"/>
          </a:p>
        </p:txBody>
      </p:sp>
      <p:sp>
        <p:nvSpPr>
          <p:cNvPr id="12" name="Text 10"/>
          <p:cNvSpPr/>
          <p:nvPr/>
        </p:nvSpPr>
        <p:spPr>
          <a:xfrm>
            <a:off x="3657600" y="3154680"/>
            <a:ext cx="2331720" cy="640080"/>
          </a:xfrm>
          <a:prstGeom prst="rect">
            <a:avLst/>
          </a:prstGeom>
          <a:noFill/>
          <a:ln/>
        </p:spPr>
        <p:txBody>
          <a:bodyPr wrap="square" rtlCol="0" anchor="ctr"/>
          <a:lstStyle/>
          <a:p>
            <a:pPr algn="ctr" indent="0" marL="0">
              <a:buNone/>
            </a:pPr>
            <a:r>
              <a:rPr lang="en-US" sz="1450" b="1" dirty="0">
                <a:solidFill>
                  <a:srgbClr val="0A2540"/>
                </a:solidFill>
                <a:latin typeface="Calibri" pitchFamily="34" charset="0"/>
                <a:ea typeface="Calibri" pitchFamily="34" charset="-122"/>
                <a:cs typeface="Calibri" pitchFamily="34" charset="-120"/>
              </a:rPr>
              <a:t>Better Inventory Control</a:t>
            </a:r>
            <a:endParaRPr lang="en-US" sz="1450" dirty="0"/>
          </a:p>
        </p:txBody>
      </p:sp>
      <p:sp>
        <p:nvSpPr>
          <p:cNvPr id="13" name="Text 11"/>
          <p:cNvSpPr/>
          <p:nvPr/>
        </p:nvSpPr>
        <p:spPr>
          <a:xfrm>
            <a:off x="3657600" y="3840480"/>
            <a:ext cx="2331720" cy="1280160"/>
          </a:xfrm>
          <a:prstGeom prst="rect">
            <a:avLst/>
          </a:prstGeom>
          <a:noFill/>
          <a:ln/>
        </p:spPr>
        <p:txBody>
          <a:bodyPr wrap="square"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Batch-wise tracking improves visibility across available stock.</a:t>
            </a:r>
            <a:endParaRPr lang="en-US" sz="1200" dirty="0"/>
          </a:p>
        </p:txBody>
      </p:sp>
      <p:sp>
        <p:nvSpPr>
          <p:cNvPr id="14" name="Shape 12"/>
          <p:cNvSpPr/>
          <p:nvPr/>
        </p:nvSpPr>
        <p:spPr>
          <a:xfrm>
            <a:off x="6400800" y="1965960"/>
            <a:ext cx="2697480" cy="3291840"/>
          </a:xfrm>
          <a:prstGeom prst="roundRect">
            <a:avLst>
              <a:gd name="adj" fmla="val 3051"/>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15" name="Shape 13"/>
          <p:cNvSpPr/>
          <p:nvPr/>
        </p:nvSpPr>
        <p:spPr>
          <a:xfrm>
            <a:off x="7429500" y="2286000"/>
            <a:ext cx="640080" cy="640080"/>
          </a:xfrm>
          <a:prstGeom prst="ellipse">
            <a:avLst/>
          </a:prstGeom>
          <a:solidFill>
            <a:srgbClr val="00B8A9"/>
          </a:solidFill>
          <a:ln/>
        </p:spPr>
      </p:sp>
      <p:sp>
        <p:nvSpPr>
          <p:cNvPr id="16" name="Text 14"/>
          <p:cNvSpPr/>
          <p:nvPr/>
        </p:nvSpPr>
        <p:spPr>
          <a:xfrm>
            <a:off x="7429500" y="22860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ALT</a:t>
            </a:r>
            <a:endParaRPr lang="en-US" sz="1300" dirty="0"/>
          </a:p>
        </p:txBody>
      </p:sp>
      <p:sp>
        <p:nvSpPr>
          <p:cNvPr id="17" name="Text 15"/>
          <p:cNvSpPr/>
          <p:nvPr/>
        </p:nvSpPr>
        <p:spPr>
          <a:xfrm>
            <a:off x="6583680" y="3154680"/>
            <a:ext cx="2331720" cy="640080"/>
          </a:xfrm>
          <a:prstGeom prst="rect">
            <a:avLst/>
          </a:prstGeom>
          <a:noFill/>
          <a:ln/>
        </p:spPr>
        <p:txBody>
          <a:bodyPr wrap="square" rtlCol="0" anchor="ctr"/>
          <a:lstStyle/>
          <a:p>
            <a:pPr algn="ctr" indent="0" marL="0">
              <a:buNone/>
            </a:pPr>
            <a:r>
              <a:rPr lang="en-US" sz="1450" b="1" dirty="0">
                <a:solidFill>
                  <a:srgbClr val="0A2540"/>
                </a:solidFill>
                <a:latin typeface="Calibri" pitchFamily="34" charset="0"/>
                <a:ea typeface="Calibri" pitchFamily="34" charset="-122"/>
                <a:cs typeface="Calibri" pitchFamily="34" charset="-120"/>
              </a:rPr>
              <a:t>Faster Action</a:t>
            </a:r>
            <a:endParaRPr lang="en-US" sz="1450" dirty="0"/>
          </a:p>
        </p:txBody>
      </p:sp>
      <p:sp>
        <p:nvSpPr>
          <p:cNvPr id="18" name="Text 16"/>
          <p:cNvSpPr/>
          <p:nvPr/>
        </p:nvSpPr>
        <p:spPr>
          <a:xfrm>
            <a:off x="6583680" y="3840480"/>
            <a:ext cx="2331720" cy="1280160"/>
          </a:xfrm>
          <a:prstGeom prst="rect">
            <a:avLst/>
          </a:prstGeom>
          <a:noFill/>
          <a:ln/>
        </p:spPr>
        <p:txBody>
          <a:bodyPr wrap="square"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Low-stock and near-expiry identification supports timely intervention.</a:t>
            </a:r>
            <a:endParaRPr lang="en-US" sz="1200" dirty="0"/>
          </a:p>
        </p:txBody>
      </p:sp>
      <p:sp>
        <p:nvSpPr>
          <p:cNvPr id="19" name="Shape 17"/>
          <p:cNvSpPr/>
          <p:nvPr/>
        </p:nvSpPr>
        <p:spPr>
          <a:xfrm>
            <a:off x="9326880" y="1965960"/>
            <a:ext cx="2697480" cy="3291840"/>
          </a:xfrm>
          <a:prstGeom prst="roundRect">
            <a:avLst>
              <a:gd name="adj" fmla="val 3051"/>
            </a:avLst>
          </a:prstGeom>
          <a:solidFill>
            <a:srgbClr val="FFFFFF"/>
          </a:solidFill>
          <a:ln w="12700">
            <a:solidFill>
              <a:srgbClr val="D9E2EC"/>
            </a:solidFill>
            <a:prstDash val="solid"/>
          </a:ln>
          <a:effectLst>
            <a:outerShdw sx="100000" sy="100000" kx="0" ky="0" algn="bl" rotWithShape="0" blurRad="63500" dist="25400" dir="5400000">
              <a:srgbClr val="9AA5B1">
                <a:alpha val="20000"/>
              </a:srgbClr>
            </a:outerShdw>
          </a:effectLst>
        </p:spPr>
      </p:sp>
      <p:sp>
        <p:nvSpPr>
          <p:cNvPr id="20" name="Shape 18"/>
          <p:cNvSpPr/>
          <p:nvPr/>
        </p:nvSpPr>
        <p:spPr>
          <a:xfrm>
            <a:off x="10355580" y="2286000"/>
            <a:ext cx="640080" cy="640080"/>
          </a:xfrm>
          <a:prstGeom prst="ellipse">
            <a:avLst/>
          </a:prstGeom>
          <a:solidFill>
            <a:srgbClr val="00B8A9"/>
          </a:solidFill>
          <a:ln/>
        </p:spPr>
      </p:sp>
      <p:sp>
        <p:nvSpPr>
          <p:cNvPr id="21" name="Text 19"/>
          <p:cNvSpPr/>
          <p:nvPr/>
        </p:nvSpPr>
        <p:spPr>
          <a:xfrm>
            <a:off x="10355580" y="22860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ANL</a:t>
            </a:r>
            <a:endParaRPr lang="en-US" sz="1300" dirty="0"/>
          </a:p>
        </p:txBody>
      </p:sp>
      <p:sp>
        <p:nvSpPr>
          <p:cNvPr id="22" name="Text 20"/>
          <p:cNvSpPr/>
          <p:nvPr/>
        </p:nvSpPr>
        <p:spPr>
          <a:xfrm>
            <a:off x="9509760" y="3154680"/>
            <a:ext cx="2331720" cy="640080"/>
          </a:xfrm>
          <a:prstGeom prst="rect">
            <a:avLst/>
          </a:prstGeom>
          <a:noFill/>
          <a:ln/>
        </p:spPr>
        <p:txBody>
          <a:bodyPr wrap="square" rtlCol="0" anchor="ctr"/>
          <a:lstStyle/>
          <a:p>
            <a:pPr algn="ctr" indent="0" marL="0">
              <a:buNone/>
            </a:pPr>
            <a:r>
              <a:rPr lang="en-US" sz="1450" b="1" dirty="0">
                <a:solidFill>
                  <a:srgbClr val="0A2540"/>
                </a:solidFill>
                <a:latin typeface="Calibri" pitchFamily="34" charset="0"/>
                <a:ea typeface="Calibri" pitchFamily="34" charset="-122"/>
                <a:cs typeface="Calibri" pitchFamily="34" charset="-120"/>
              </a:rPr>
              <a:t>Data-Driven Decisions</a:t>
            </a:r>
            <a:endParaRPr lang="en-US" sz="1450" dirty="0"/>
          </a:p>
        </p:txBody>
      </p:sp>
      <p:sp>
        <p:nvSpPr>
          <p:cNvPr id="23" name="Text 21"/>
          <p:cNvSpPr/>
          <p:nvPr/>
        </p:nvSpPr>
        <p:spPr>
          <a:xfrm>
            <a:off x="9509760" y="3840480"/>
            <a:ext cx="2331720" cy="1280160"/>
          </a:xfrm>
          <a:prstGeom prst="rect">
            <a:avLst/>
          </a:prstGeom>
          <a:noFill/>
          <a:ln/>
        </p:spPr>
        <p:txBody>
          <a:bodyPr wrap="square"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Analytics provide visual insights into inventory status and trends.</a:t>
            </a:r>
            <a:endParaRPr lang="en-US" sz="1200" dirty="0"/>
          </a:p>
        </p:txBody>
      </p:sp>
      <p:sp>
        <p:nvSpPr>
          <p:cNvPr id="24" name="Shape 22"/>
          <p:cNvSpPr/>
          <p:nvPr/>
        </p:nvSpPr>
        <p:spPr>
          <a:xfrm>
            <a:off x="548640" y="5577840"/>
            <a:ext cx="11064240" cy="566928"/>
          </a:xfrm>
          <a:prstGeom prst="roundRect">
            <a:avLst>
              <a:gd name="adj" fmla="val 9677"/>
            </a:avLst>
          </a:prstGeom>
          <a:solidFill>
            <a:srgbClr val="0A2540"/>
          </a:solidFill>
          <a:ln/>
        </p:spPr>
      </p:sp>
      <p:sp>
        <p:nvSpPr>
          <p:cNvPr id="25" name="Text 23"/>
          <p:cNvSpPr/>
          <p:nvPr/>
        </p:nvSpPr>
        <p:spPr>
          <a:xfrm>
            <a:off x="548640" y="5577840"/>
            <a:ext cx="1106424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Reliable Data  →  Better Visibility  →  Faster Decisions</a:t>
            </a:r>
            <a:endParaRPr lang="en-US" sz="1500" dirty="0"/>
          </a:p>
        </p:txBody>
      </p:sp>
      <p:sp>
        <p:nvSpPr>
          <p:cNvPr id="27" name="Text 24"/>
          <p:cNvSpPr/>
          <p:nvPr/>
        </p:nvSpPr>
        <p:spPr>
          <a:xfrm>
            <a:off x="457200" y="6510528"/>
            <a:ext cx="8686800" cy="274320"/>
          </a:xfrm>
          <a:prstGeom prst="rect">
            <a:avLst/>
          </a:prstGeom>
          <a:noFill/>
          <a:ln/>
        </p:spPr>
        <p:txBody>
          <a:bodyPr wrap="square" rtlCol="0" anchor="ctr"/>
          <a:lstStyle/>
          <a:p>
            <a:pPr algn="l" indent="0" marL="0">
              <a:buNone/>
            </a:pPr>
            <a:r>
              <a:rPr lang="en-US" sz="900" dirty="0">
                <a:solidFill>
                  <a:srgbClr val="52606D"/>
                </a:solidFill>
                <a:latin typeface="Calibri" pitchFamily="34" charset="0"/>
                <a:ea typeface="Calibri" pitchFamily="34" charset="-122"/>
                <a:cs typeface="Calibri" pitchFamily="34" charset="-120"/>
              </a:rPr>
              <a:t>Medicine Stock Management &amp; Analytics Portal  |  Project Review – 2</a:t>
            </a:r>
            <a:endParaRPr lang="en-US" sz="900" dirty="0"/>
          </a:p>
        </p:txBody>
      </p:sp>
      <p:sp>
        <p:nvSpPr>
          <p:cNvPr id="28" name="Text 25"/>
          <p:cNvSpPr/>
          <p:nvPr/>
        </p:nvSpPr>
        <p:spPr>
          <a:xfrm>
            <a:off x="11277295" y="6510528"/>
            <a:ext cx="457200" cy="274320"/>
          </a:xfrm>
          <a:prstGeom prst="rect">
            <a:avLst/>
          </a:prstGeom>
          <a:noFill/>
          <a:ln/>
        </p:spPr>
        <p:txBody>
          <a:bodyPr wrap="square"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A2B"/>
        </a:solidFill>
      </p:bgPr>
    </p:bg>
    <p:spTree>
      <p:nvGrpSpPr>
        <p:cNvPr id="1" name=""/>
        <p:cNvGrpSpPr/>
        <p:nvPr/>
      </p:nvGrpSpPr>
      <p:grpSpPr>
        <a:xfrm>
          <a:off x="0" y="0"/>
          <a:ext cx="0" cy="0"/>
          <a:chOff x="0" y="0"/>
          <a:chExt cx="0" cy="0"/>
        </a:xfrm>
      </p:grpSpPr>
      <p:sp>
        <p:nvSpPr>
          <p:cNvPr id="2" name="Shape 0"/>
          <p:cNvSpPr/>
          <p:nvPr/>
        </p:nvSpPr>
        <p:spPr>
          <a:xfrm rot="-1080000">
            <a:off x="-457200" y="5120640"/>
            <a:ext cx="2377440" cy="685800"/>
          </a:xfrm>
          <a:prstGeom prst="roundRect">
            <a:avLst>
              <a:gd name="adj" fmla="val 49333"/>
            </a:avLst>
          </a:prstGeom>
          <a:solidFill>
            <a:srgbClr val="0A2540">
              <a:alpha val="60000"/>
            </a:srgbClr>
          </a:solidFill>
          <a:ln/>
        </p:spPr>
      </p:sp>
      <p:sp>
        <p:nvSpPr>
          <p:cNvPr id="3" name="Shape 1"/>
          <p:cNvSpPr/>
          <p:nvPr/>
        </p:nvSpPr>
        <p:spPr>
          <a:xfrm rot="-1080000">
            <a:off x="-411480" y="5257800"/>
            <a:ext cx="2377440" cy="685800"/>
          </a:xfrm>
          <a:prstGeom prst="roundRect">
            <a:avLst>
              <a:gd name="adj" fmla="val 49333"/>
            </a:avLst>
          </a:prstGeom>
          <a:solidFill>
            <a:srgbClr val="0A2540">
              <a:alpha val="68000"/>
            </a:srgbClr>
          </a:solidFill>
          <a:ln/>
        </p:spPr>
      </p:sp>
      <p:sp>
        <p:nvSpPr>
          <p:cNvPr id="4" name="Shape 2"/>
          <p:cNvSpPr/>
          <p:nvPr/>
        </p:nvSpPr>
        <p:spPr>
          <a:xfrm rot="-1080000">
            <a:off x="-365760" y="5394960"/>
            <a:ext cx="2377440" cy="685800"/>
          </a:xfrm>
          <a:prstGeom prst="roundRect">
            <a:avLst>
              <a:gd name="adj" fmla="val 49333"/>
            </a:avLst>
          </a:prstGeom>
          <a:solidFill>
            <a:srgbClr val="0A2540">
              <a:alpha val="76000"/>
            </a:srgbClr>
          </a:solidFill>
          <a:ln/>
        </p:spPr>
      </p:sp>
      <p:sp>
        <p:nvSpPr>
          <p:cNvPr id="5" name="Text 3"/>
          <p:cNvSpPr/>
          <p:nvPr/>
        </p:nvSpPr>
        <p:spPr>
          <a:xfrm>
            <a:off x="640080" y="1828800"/>
            <a:ext cx="10881360"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6" name="Text 4"/>
          <p:cNvSpPr/>
          <p:nvPr/>
        </p:nvSpPr>
        <p:spPr>
          <a:xfrm>
            <a:off x="640080" y="2697480"/>
            <a:ext cx="10881360" cy="548640"/>
          </a:xfrm>
          <a:prstGeom prst="rect">
            <a:avLst/>
          </a:prstGeom>
          <a:noFill/>
          <a:ln/>
        </p:spPr>
        <p:txBody>
          <a:bodyPr wrap="square" rtlCol="0" anchor="ctr"/>
          <a:lstStyle/>
          <a:p>
            <a:pPr algn="ctr" indent="0" marL="0">
              <a:buNone/>
            </a:pPr>
            <a:r>
              <a:rPr lang="en-US" sz="2000" i="1" dirty="0">
                <a:solidFill>
                  <a:srgbClr val="00D4FF"/>
                </a:solidFill>
                <a:latin typeface="Calibri" pitchFamily="34" charset="0"/>
                <a:ea typeface="Calibri" pitchFamily="34" charset="-122"/>
                <a:cs typeface="Calibri" pitchFamily="34" charset="-120"/>
              </a:rPr>
              <a:t>Questions &amp; Discussion</a:t>
            </a:r>
            <a:endParaRPr lang="en-US" sz="2000" dirty="0"/>
          </a:p>
        </p:txBody>
      </p:sp>
      <p:sp>
        <p:nvSpPr>
          <p:cNvPr id="7" name="Text 5"/>
          <p:cNvSpPr/>
          <p:nvPr/>
        </p:nvSpPr>
        <p:spPr>
          <a:xfrm>
            <a:off x="640080" y="3749040"/>
            <a:ext cx="10881360" cy="365760"/>
          </a:xfrm>
          <a:prstGeom prst="rect">
            <a:avLst/>
          </a:prstGeom>
          <a:noFill/>
          <a:ln/>
        </p:spPr>
        <p:txBody>
          <a:bodyPr wrap="square" rtlCol="0" anchor="ctr"/>
          <a:lstStyle/>
          <a:p>
            <a:pPr algn="ctr" indent="0" marL="0">
              <a:buNone/>
            </a:pPr>
            <a:r>
              <a:rPr lang="en-US" sz="1400" dirty="0">
                <a:solidFill>
                  <a:srgbClr val="B8C7D9"/>
                </a:solidFill>
                <a:latin typeface="Calibri" pitchFamily="34" charset="0"/>
                <a:ea typeface="Calibri" pitchFamily="34" charset="-122"/>
                <a:cs typeface="Calibri" pitchFamily="34" charset="-120"/>
              </a:rPr>
              <a:t>Medicine Stock Management &amp; Analytics Portal for Pharmaceuticals</a:t>
            </a:r>
            <a:endParaRPr lang="en-US" sz="1400" dirty="0"/>
          </a:p>
        </p:txBody>
      </p:sp>
      <p:sp>
        <p:nvSpPr>
          <p:cNvPr id="8" name="Text 6"/>
          <p:cNvSpPr/>
          <p:nvPr/>
        </p:nvSpPr>
        <p:spPr>
          <a:xfrm>
            <a:off x="640080" y="4114800"/>
            <a:ext cx="10881360" cy="320040"/>
          </a:xfrm>
          <a:prstGeom prst="rect">
            <a:avLst/>
          </a:prstGeom>
          <a:noFill/>
          <a:ln/>
        </p:spPr>
        <p:txBody>
          <a:bodyPr wrap="square" rtlCol="0" anchor="ctr"/>
          <a:lstStyle/>
          <a:p>
            <a:pPr algn="ctr" indent="0" marL="0">
              <a:buNone/>
            </a:pPr>
            <a:r>
              <a:rPr lang="en-US" sz="1200" dirty="0">
                <a:solidFill>
                  <a:srgbClr val="8FA3B8"/>
                </a:solidFill>
                <a:latin typeface="Calibri" pitchFamily="34" charset="0"/>
                <a:ea typeface="Calibri" pitchFamily="34" charset="-122"/>
                <a:cs typeface="Calibri" pitchFamily="34" charset="-120"/>
              </a:rPr>
              <a:t>Project Review – 2  |  KL UNIVERSITY</a:t>
            </a:r>
            <a:endParaRPr lang="en-US" sz="1200" dirty="0"/>
          </a:p>
        </p:txBody>
      </p:sp>
      <p:sp>
        <p:nvSpPr>
          <p:cNvPr id="9" name="Text 7"/>
          <p:cNvSpPr/>
          <p:nvPr/>
        </p:nvSpPr>
        <p:spPr>
          <a:xfrm>
            <a:off x="640080" y="4892040"/>
            <a:ext cx="108813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KARKALA SHIVA REDDY — 2520030105     |     PARIPALLI NAVADEEP — 2520030196</a:t>
            </a:r>
            <a:endParaRPr lang="en-US" sz="1300" dirty="0"/>
          </a:p>
        </p:txBody>
      </p:sp>
      <p:sp>
        <p:nvSpPr>
          <p:cNvPr id="10" name="Text 8"/>
          <p:cNvSpPr/>
          <p:nvPr/>
        </p:nvSpPr>
        <p:spPr>
          <a:xfrm>
            <a:off x="640080" y="5257800"/>
            <a:ext cx="10881360" cy="320040"/>
          </a:xfrm>
          <a:prstGeom prst="rect">
            <a:avLst/>
          </a:prstGeom>
          <a:noFill/>
          <a:ln/>
        </p:spPr>
        <p:txBody>
          <a:bodyPr wrap="square" rtlCol="0" anchor="ctr"/>
          <a:lstStyle/>
          <a:p>
            <a:pPr algn="ctr" indent="0" marL="0">
              <a:buNone/>
            </a:pPr>
            <a:r>
              <a:rPr lang="en-US" sz="1200" dirty="0">
                <a:solidFill>
                  <a:srgbClr val="8FA3B8"/>
                </a:solidFill>
                <a:latin typeface="Calibri" pitchFamily="34" charset="0"/>
                <a:ea typeface="Calibri" pitchFamily="34" charset="-122"/>
                <a:cs typeface="Calibri" pitchFamily="34" charset="-120"/>
              </a:rPr>
              <a:t>Guide: Dr. R. Sateesh Kumar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2026-08-28T03:33:29Z</dcterms:created>
  <dcterms:modified xsi:type="dcterms:W3CDTF">2026-08-28T03:33:29Z</dcterms:modified>
</cp:coreProperties>
</file>